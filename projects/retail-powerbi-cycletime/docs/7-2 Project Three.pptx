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65" r:id="rId3"/>
    <p:sldId id="266" r:id="rId4"/>
    <p:sldId id="258" r:id="rId5"/>
    <p:sldId id="268" r:id="rId6"/>
    <p:sldId id="270" r:id="rId7"/>
    <p:sldId id="259" r:id="rId8"/>
    <p:sldId id="260" r:id="rId9"/>
    <p:sldId id="261" r:id="rId10"/>
    <p:sldId id="262"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C40BBB-A357-AE58-804A-21D90525BB65}" v="112" dt="2025-10-18T13:40:42.754"/>
    <p1510:client id="{F3C39572-9C63-A49C-966E-6F1DCD9B50DE}" v="237" dt="2025-10-18T15:30:08.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9" autoAdjust="0"/>
    <p:restoredTop sz="80884" autoAdjust="0"/>
  </p:normalViewPr>
  <p:slideViewPr>
    <p:cSldViewPr snapToGrid="0">
      <p:cViewPr varScale="1">
        <p:scale>
          <a:sx n="102" d="100"/>
          <a:sy n="102" d="100"/>
        </p:scale>
        <p:origin x="12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98CC9E-E807-4B71-B1F4-B395F33F358D}" type="datetimeFigureOut">
              <a:t>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A758A-FE8E-497E-B457-B13C4A2804C5}" type="slidenum">
              <a:t>‹#›</a:t>
            </a:fld>
            <a:endParaRPr lang="en-US"/>
          </a:p>
        </p:txBody>
      </p:sp>
    </p:spTree>
    <p:extLst>
      <p:ext uri="{BB962C8B-B14F-4D97-AF65-F5344CB8AC3E}">
        <p14:creationId xmlns:p14="http://schemas.microsoft.com/office/powerpoint/2010/main" val="2434976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a:t>
            </a:r>
          </a:p>
          <a:p>
            <a:endParaRPr lang="en-US" dirty="0"/>
          </a:p>
          <a:p>
            <a:r>
              <a:rPr lang="en-US" dirty="0"/>
              <a:t>Today, I will present our Manufacturing Defect Reduction Initiative. This initiative focuses on using data to identify and reduce quality issues in our production process. Using insights from Power BI, I can identify where defects occur, what causes them, and how to improve efficiency across shifts and product lines. The goal is to move away from assumptions and use operational data to find root causes, validate patterns through hypothesis testing, and propose evidence-based solutions for continuous improvement. By the end of this presentation, you will understand how this analysis leads to faster decision-making for improving manufacturing quality.</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208A758A-FE8E-497E-B457-B13C4A2804C5}" type="slidenum">
              <a:t>1</a:t>
            </a:fld>
            <a:endParaRPr lang="en-US"/>
          </a:p>
        </p:txBody>
      </p:sp>
    </p:spTree>
    <p:extLst>
      <p:ext uri="{BB962C8B-B14F-4D97-AF65-F5344CB8AC3E}">
        <p14:creationId xmlns:p14="http://schemas.microsoft.com/office/powerpoint/2010/main" val="3300169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project will focus on addressing the rate of manufacturing defects that are increasing and having a negative impact on both productivity and product quality. The analysis includes data collected during the 2025 production cycle, including defect counts, types, and performance across different shifts.</a:t>
            </a:r>
          </a:p>
          <a:p>
            <a:r>
              <a:rPr lang="en-US" dirty="0"/>
              <a:t> </a:t>
            </a:r>
            <a:endParaRPr lang="en-US" dirty="0">
              <a:ea typeface="Calibri"/>
              <a:cs typeface="Calibri"/>
            </a:endParaRPr>
          </a:p>
          <a:p>
            <a:r>
              <a:rPr lang="en-US" dirty="0"/>
              <a:t>The goal here is to use structured analytics and hypothesis testing to identify the main sources of defects, and recommend actionable improvements to processes. By focusing on the most significant defect types and standardizing performance across all shifts, the team hopes to achieve a minimum of 20% reduction in defects, alongside a measurable enhancement in overall process reliability.</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208A758A-FE8E-497E-B457-B13C4A2804C5}" type="slidenum">
              <a:t>2</a:t>
            </a:fld>
            <a:endParaRPr lang="en-US"/>
          </a:p>
        </p:txBody>
      </p:sp>
    </p:spTree>
    <p:extLst>
      <p:ext uri="{BB962C8B-B14F-4D97-AF65-F5344CB8AC3E}">
        <p14:creationId xmlns:p14="http://schemas.microsoft.com/office/powerpoint/2010/main" val="9422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accuracy, we cleaned the dataset thoroughly. We removed missing or duplicate records and added a ‘Week Number’ field for time-series analysis in Power BI. The data was organized to provide insights, such as defect type and shift time, and to perform numeric testing using ANOVA. </a:t>
            </a:r>
          </a:p>
          <a:p>
            <a:r>
              <a:rPr lang="en-US" dirty="0"/>
              <a:t> </a:t>
            </a:r>
            <a:endParaRPr lang="en-US" dirty="0">
              <a:ea typeface="Calibri"/>
              <a:cs typeface="Calibri"/>
            </a:endParaRPr>
          </a:p>
          <a:p>
            <a:r>
              <a:rPr lang="en-US" dirty="0"/>
              <a:t>By combining descriptive and inferential analysis, we gained clarity and validation. Pareto analysis showed where to focus our improvement efforts, while ANOVA tested whether variations existed among models.</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208A758A-FE8E-497E-B457-B13C4A2804C5}" type="slidenum">
              <a:t>3</a:t>
            </a:fld>
            <a:endParaRPr lang="en-US"/>
          </a:p>
        </p:txBody>
      </p:sp>
    </p:spTree>
    <p:extLst>
      <p:ext uri="{BB962C8B-B14F-4D97-AF65-F5344CB8AC3E}">
        <p14:creationId xmlns:p14="http://schemas.microsoft.com/office/powerpoint/2010/main" val="3207625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fishbone diagram shows potential causes grouped into six main areas: People, Machines, Methods, Materials, Measurement, and Environment.</a:t>
            </a:r>
          </a:p>
          <a:p>
            <a:endParaRPr lang="en-US" dirty="0"/>
          </a:p>
          <a:p>
            <a:r>
              <a:rPr lang="en-US" dirty="0"/>
              <a:t>The diagram identifies common issues like rough handling, misalignment of fixtures, process variations, and inconsistent environmental conditions.</a:t>
            </a:r>
          </a:p>
          <a:p>
            <a:endParaRPr lang="en-US" dirty="0"/>
          </a:p>
          <a:p>
            <a:r>
              <a:rPr lang="en-US" dirty="0"/>
              <a:t>These groups helped decide the next step: checking which factors are most closely linked to the defects observed.</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208A758A-FE8E-497E-B457-B13C4A2804C5}" type="slidenum">
              <a:t>4</a:t>
            </a:fld>
            <a:endParaRPr lang="en-US"/>
          </a:p>
        </p:txBody>
      </p:sp>
    </p:spTree>
    <p:extLst>
      <p:ext uri="{BB962C8B-B14F-4D97-AF65-F5344CB8AC3E}">
        <p14:creationId xmlns:p14="http://schemas.microsoft.com/office/powerpoint/2010/main" val="2903786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 one-way ANOVA to see if defect rates differ among production models. The F-statistic was 0.5789, and the p-value was 0.5646, which is higher than the 0.05 threshold. Therefore, we do not reject the null hypothesis.</a:t>
            </a:r>
          </a:p>
          <a:p>
            <a:r>
              <a:rPr lang="en-US" dirty="0"/>
              <a:t> </a:t>
            </a:r>
            <a:endParaRPr lang="en-US" dirty="0">
              <a:ea typeface="Calibri"/>
              <a:cs typeface="Calibri"/>
            </a:endParaRPr>
          </a:p>
          <a:p>
            <a:r>
              <a:rPr lang="en-US" dirty="0"/>
              <a:t>This means that defects are not limited to just one model. Instead, they are likely caused by larger issues in the process, like workflow differences, varying levels of training, or equipment misalignment. </a:t>
            </a:r>
            <a:endParaRPr lang="en-US" dirty="0">
              <a:ea typeface="Calibri"/>
              <a:cs typeface="Calibri"/>
            </a:endParaRPr>
          </a:p>
          <a:p>
            <a:r>
              <a:rPr lang="en-US" dirty="0"/>
              <a:t> </a:t>
            </a:r>
            <a:endParaRPr lang="en-US" dirty="0">
              <a:ea typeface="Calibri"/>
              <a:cs typeface="Calibri"/>
            </a:endParaRPr>
          </a:p>
          <a:p>
            <a:r>
              <a:rPr lang="en-US" dirty="0"/>
              <a:t>The results suggest we should focus on improving processes across all models. This could include standardizing procedures and providing more training for operators, rather than focusing on specific product lines.</a:t>
            </a:r>
          </a:p>
        </p:txBody>
      </p:sp>
      <p:sp>
        <p:nvSpPr>
          <p:cNvPr id="4" name="Slide Number Placeholder 3"/>
          <p:cNvSpPr>
            <a:spLocks noGrp="1"/>
          </p:cNvSpPr>
          <p:nvPr>
            <p:ph type="sldNum" sz="quarter" idx="5"/>
          </p:nvPr>
        </p:nvSpPr>
        <p:spPr/>
        <p:txBody>
          <a:bodyPr/>
          <a:lstStyle/>
          <a:p>
            <a:fld id="{208A758A-FE8E-497E-B457-B13C4A2804C5}" type="slidenum">
              <a:rPr lang="en-US"/>
              <a:t>5</a:t>
            </a:fld>
            <a:endParaRPr lang="en-US"/>
          </a:p>
        </p:txBody>
      </p:sp>
    </p:spTree>
    <p:extLst>
      <p:ext uri="{BB962C8B-B14F-4D97-AF65-F5344CB8AC3E}">
        <p14:creationId xmlns:p14="http://schemas.microsoft.com/office/powerpoint/2010/main" val="2957930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Power BI dashboard shows the results of our analysis in a clear, interactive view. The bar chart on the left displays the number of defects by shift, highlighting that the night shift has the most defects. The line chart on the right illustrates weekly defect trends throughout 2025, showing an overall pattern of gradual improvement, even with some ups and downs. Slicers at the top allow users to focus on specific models, shifts, or types of defects. This helps managers and quality teams find out exactly where they need to take corrective action.</a:t>
            </a:r>
          </a:p>
        </p:txBody>
      </p:sp>
      <p:sp>
        <p:nvSpPr>
          <p:cNvPr id="4" name="Slide Number Placeholder 3"/>
          <p:cNvSpPr>
            <a:spLocks noGrp="1"/>
          </p:cNvSpPr>
          <p:nvPr>
            <p:ph type="sldNum" sz="quarter" idx="5"/>
          </p:nvPr>
        </p:nvSpPr>
        <p:spPr/>
        <p:txBody>
          <a:bodyPr/>
          <a:lstStyle/>
          <a:p>
            <a:fld id="{208A758A-FE8E-497E-B457-B13C4A2804C5}" type="slidenum">
              <a:rPr lang="en-US"/>
              <a:t>6</a:t>
            </a:fld>
            <a:endParaRPr lang="en-US"/>
          </a:p>
        </p:txBody>
      </p:sp>
    </p:spTree>
    <p:extLst>
      <p:ext uri="{BB962C8B-B14F-4D97-AF65-F5344CB8AC3E}">
        <p14:creationId xmlns:p14="http://schemas.microsoft.com/office/powerpoint/2010/main" val="1215969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AppleSystemUIFont"/>
              </a:rPr>
              <a:t>The Pareto chart shows that a few production models cause most of the defects—about 80 percent come from just three models. </a:t>
            </a:r>
          </a:p>
          <a:p>
            <a:endParaRPr lang="en-US" dirty="0">
              <a:effectLst/>
              <a:latin typeface=".AppleSystemUIFont"/>
            </a:endParaRPr>
          </a:p>
          <a:p>
            <a:r>
              <a:rPr lang="en-US" dirty="0">
                <a:effectLst/>
                <a:latin typeface=".AppleSystemUIFont"/>
              </a:rPr>
              <a:t>This supports the 80/20 rule, which means focusing on a few key models can lead to the biggest improvements.</a:t>
            </a:r>
          </a:p>
          <a:p>
            <a:endParaRPr lang="en-US" dirty="0">
              <a:effectLst/>
              <a:latin typeface=".AppleSystemUIFont"/>
            </a:endParaRPr>
          </a:p>
          <a:p>
            <a:r>
              <a:rPr lang="en-US" dirty="0">
                <a:effectLst/>
                <a:latin typeface=".AppleSystemUIFont"/>
              </a:rPr>
              <a:t>These findings helped me focus my investigation on specific production lines for a closer analysis.</a:t>
            </a:r>
            <a:endParaRPr lang="en-US">
              <a:ea typeface="Calibri"/>
              <a:cs typeface="Calibri"/>
            </a:endParaRPr>
          </a:p>
        </p:txBody>
      </p:sp>
      <p:sp>
        <p:nvSpPr>
          <p:cNvPr id="4" name="Slide Number Placeholder 3"/>
          <p:cNvSpPr>
            <a:spLocks noGrp="1"/>
          </p:cNvSpPr>
          <p:nvPr>
            <p:ph type="sldNum" sz="quarter" idx="5"/>
          </p:nvPr>
        </p:nvSpPr>
        <p:spPr/>
        <p:txBody>
          <a:bodyPr/>
          <a:lstStyle/>
          <a:p>
            <a:fld id="{208A758A-FE8E-497E-B457-B13C4A2804C5}" type="slidenum">
              <a:rPr lang="en-US" smtClean="0"/>
              <a:t>7</a:t>
            </a:fld>
            <a:endParaRPr lang="en-US"/>
          </a:p>
        </p:txBody>
      </p:sp>
    </p:spTree>
    <p:extLst>
      <p:ext uri="{BB962C8B-B14F-4D97-AF65-F5344CB8AC3E}">
        <p14:creationId xmlns:p14="http://schemas.microsoft.com/office/powerpoint/2010/main" val="716762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AppleSystemUIFont"/>
              </a:rPr>
              <a:t>This Pareto chart shows the main defect categories for Model 595130-195. </a:t>
            </a:r>
            <a:endParaRPr lang="en-US"/>
          </a:p>
          <a:p>
            <a:endParaRPr lang="en-US" dirty="0">
              <a:latin typeface=".AppleSystemUIFont"/>
            </a:endParaRPr>
          </a:p>
          <a:p>
            <a:r>
              <a:rPr lang="en-US" dirty="0">
                <a:effectLst/>
                <a:latin typeface=".AppleSystemUIFont"/>
              </a:rPr>
              <a:t>The top three issues are missing components, component misalignment, and improper assembly.</a:t>
            </a:r>
            <a:endParaRPr lang="en-US" dirty="0">
              <a:ea typeface="Calibri"/>
              <a:cs typeface="Calibri"/>
            </a:endParaRPr>
          </a:p>
          <a:p>
            <a:endParaRPr lang="en-US" dirty="0">
              <a:effectLst/>
              <a:latin typeface=".AppleSystemUIFont"/>
            </a:endParaRPr>
          </a:p>
          <a:p>
            <a:r>
              <a:rPr lang="en-US" dirty="0">
                <a:effectLst/>
                <a:latin typeface=".AppleSystemUIFont"/>
              </a:rPr>
              <a:t>According to the Pareto principle, fixing these major problems will have the biggest impact on reducing total defects.</a:t>
            </a:r>
          </a:p>
          <a:p>
            <a:endParaRPr lang="en-US" dirty="0">
              <a:effectLst/>
              <a:latin typeface=".AppleSystemUIFont"/>
            </a:endParaRPr>
          </a:p>
          <a:p>
            <a:r>
              <a:rPr lang="en-US" dirty="0">
                <a:effectLst/>
                <a:latin typeface=".AppleSystemUIFont"/>
              </a:rPr>
              <a:t>These findings led us to review the assembly procedures, check the components more carefully, and improve operator training for this model.</a:t>
            </a:r>
            <a:endParaRPr lang="en-US" dirty="0"/>
          </a:p>
        </p:txBody>
      </p:sp>
      <p:sp>
        <p:nvSpPr>
          <p:cNvPr id="4" name="Slide Number Placeholder 3"/>
          <p:cNvSpPr>
            <a:spLocks noGrp="1"/>
          </p:cNvSpPr>
          <p:nvPr>
            <p:ph type="sldNum" sz="quarter" idx="5"/>
          </p:nvPr>
        </p:nvSpPr>
        <p:spPr/>
        <p:txBody>
          <a:bodyPr/>
          <a:lstStyle/>
          <a:p>
            <a:fld id="{208A758A-FE8E-497E-B457-B13C4A2804C5}" type="slidenum">
              <a:rPr lang="en-US" smtClean="0"/>
              <a:t>8</a:t>
            </a:fld>
            <a:endParaRPr lang="en-US"/>
          </a:p>
        </p:txBody>
      </p:sp>
    </p:spTree>
    <p:extLst>
      <p:ext uri="{BB962C8B-B14F-4D97-AF65-F5344CB8AC3E}">
        <p14:creationId xmlns:p14="http://schemas.microsoft.com/office/powerpoint/2010/main" val="558331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Pareto chart focuses on Model 595214-125, showing the frequency of each defect type.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results highlight that a handful of defect types account for most of the production issues. — </a:t>
            </a:r>
            <a:r>
              <a:rPr lang="en-US" dirty="0"/>
              <a:t>Solder</a:t>
            </a:r>
            <a:r>
              <a:rPr lang="en-US" sz="1200" kern="1200" dirty="0">
                <a:solidFill>
                  <a:schemeClr val="tx1"/>
                </a:solidFill>
                <a:effectLst/>
                <a:latin typeface="+mn-lt"/>
                <a:ea typeface="+mn-ea"/>
                <a:cs typeface="+mn-cs"/>
              </a:rPr>
              <a:t> </a:t>
            </a:r>
            <a:r>
              <a:rPr lang="en-US" dirty="0"/>
              <a:t>Bridges</a:t>
            </a:r>
            <a:r>
              <a:rPr lang="en-US" sz="1200" kern="1200" dirty="0">
                <a:solidFill>
                  <a:schemeClr val="tx1"/>
                </a:solidFill>
                <a:effectLst/>
                <a:latin typeface="+mn-lt"/>
                <a:ea typeface="+mn-ea"/>
                <a:cs typeface="+mn-cs"/>
              </a:rPr>
              <a:t>, </a:t>
            </a:r>
            <a:r>
              <a:rPr lang="en-US" dirty="0"/>
              <a:t>Tilted</a:t>
            </a:r>
            <a:r>
              <a:rPr lang="en-US" sz="1200" kern="1200" dirty="0">
                <a:solidFill>
                  <a:schemeClr val="tx1"/>
                </a:solidFill>
                <a:effectLst/>
                <a:latin typeface="+mn-lt"/>
                <a:ea typeface="+mn-ea"/>
                <a:cs typeface="+mn-cs"/>
              </a:rPr>
              <a:t> </a:t>
            </a:r>
            <a:r>
              <a:rPr lang="en-US" dirty="0"/>
              <a:t>Components</a:t>
            </a:r>
            <a:r>
              <a:rPr lang="en-US" sz="1200" kern="1200" dirty="0">
                <a:solidFill>
                  <a:schemeClr val="tx1"/>
                </a:solidFill>
                <a:effectLst/>
                <a:latin typeface="+mn-lt"/>
                <a:ea typeface="+mn-ea"/>
                <a:cs typeface="+mn-cs"/>
              </a:rPr>
              <a:t>, and </a:t>
            </a:r>
            <a:r>
              <a:rPr lang="en-US" dirty="0"/>
              <a:t>Pin</a:t>
            </a:r>
            <a:r>
              <a:rPr lang="en-US" sz="1200" kern="1200" dirty="0">
                <a:solidFill>
                  <a:schemeClr val="tx1"/>
                </a:solidFill>
                <a:effectLst/>
                <a:latin typeface="+mn-lt"/>
                <a:ea typeface="+mn-ea"/>
                <a:cs typeface="+mn-cs"/>
              </a:rPr>
              <a:t> </a:t>
            </a:r>
            <a:r>
              <a:rPr lang="en-US" dirty="0"/>
              <a:t>Holes</a:t>
            </a:r>
            <a:r>
              <a:rPr lang="en-US" sz="1200" kern="1200" dirty="0">
                <a:solidFill>
                  <a:schemeClr val="tx1"/>
                </a:solidFill>
                <a:effectLst/>
                <a:latin typeface="+mn-lt"/>
                <a:ea typeface="+mn-ea"/>
                <a:cs typeface="+mn-cs"/>
              </a:rPr>
              <a:t> </a:t>
            </a:r>
            <a:endParaRPr lang="en-US" sz="1200" kern="1200" dirty="0">
              <a:solidFill>
                <a:schemeClr val="tx1"/>
              </a:solidFill>
              <a:effectLst/>
              <a:latin typeface="+mn-lt"/>
              <a:ea typeface="Calibri"/>
              <a:cs typeface="Calibri"/>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cumulative Pareto curve shows that roughly 80% of total defects come from these causes.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insight guided the team to prioritize process checks, soldering calibration, and component handling improvements for this model.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 targeting these categories, we can achieve the greatest reduction in total defect counts with minimal resource investment.”</a:t>
            </a:r>
          </a:p>
          <a:p>
            <a:endParaRPr lang="en-US" dirty="0"/>
          </a:p>
        </p:txBody>
      </p:sp>
      <p:sp>
        <p:nvSpPr>
          <p:cNvPr id="4" name="Slide Number Placeholder 3"/>
          <p:cNvSpPr>
            <a:spLocks noGrp="1"/>
          </p:cNvSpPr>
          <p:nvPr>
            <p:ph type="sldNum" sz="quarter" idx="5"/>
          </p:nvPr>
        </p:nvSpPr>
        <p:spPr/>
        <p:txBody>
          <a:bodyPr/>
          <a:lstStyle/>
          <a:p>
            <a:fld id="{208A758A-FE8E-497E-B457-B13C4A2804C5}" type="slidenum">
              <a:rPr lang="en-US" smtClean="0"/>
              <a:t>9</a:t>
            </a:fld>
            <a:endParaRPr lang="en-US"/>
          </a:p>
        </p:txBody>
      </p:sp>
    </p:spTree>
    <p:extLst>
      <p:ext uri="{BB962C8B-B14F-4D97-AF65-F5344CB8AC3E}">
        <p14:creationId xmlns:p14="http://schemas.microsoft.com/office/powerpoint/2010/main" val="1324912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Pareto chart focuses on Model 595242-854 and highlights how a few key defect types continue to drive the majority of production issues.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most common problems—solder bridges, tilted components, and pin damage—represent the largest share of total defects.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cumulative Pareto curve clearly demonstrates the 80/20 pattern once again, emphasizing that by concentrating improvement efforts on these top contributors, we can achieve the most meaningful reduction in defects.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These insights guided corrective action plans targeting soldering process calibration, component alignment verification, and operator handling procedures for this production model.”</a:t>
            </a:r>
          </a:p>
          <a:p>
            <a:endParaRPr lang="en-US" dirty="0"/>
          </a:p>
        </p:txBody>
      </p:sp>
      <p:sp>
        <p:nvSpPr>
          <p:cNvPr id="4" name="Slide Number Placeholder 3"/>
          <p:cNvSpPr>
            <a:spLocks noGrp="1"/>
          </p:cNvSpPr>
          <p:nvPr>
            <p:ph type="sldNum" sz="quarter" idx="5"/>
          </p:nvPr>
        </p:nvSpPr>
        <p:spPr/>
        <p:txBody>
          <a:bodyPr/>
          <a:lstStyle/>
          <a:p>
            <a:fld id="{208A758A-FE8E-497E-B457-B13C4A2804C5}" type="slidenum">
              <a:rPr lang="en-US" smtClean="0"/>
              <a:t>10</a:t>
            </a:fld>
            <a:endParaRPr lang="en-US"/>
          </a:p>
        </p:txBody>
      </p:sp>
    </p:spTree>
    <p:extLst>
      <p:ext uri="{BB962C8B-B14F-4D97-AF65-F5344CB8AC3E}">
        <p14:creationId xmlns:p14="http://schemas.microsoft.com/office/powerpoint/2010/main" val="4197995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of this project shows that only a few models and types of defects cause most quality issues. This demonstrates the Pareto principle, which means that a small number of causes lead to most problems. We observe defects across all shifts, proving that the issue is systematic, not limited to just one shift. The ANOVA test confirms this, showing no significant differences between the models.</a:t>
            </a:r>
          </a:p>
          <a:p>
            <a:r>
              <a:rPr lang="en-US"/>
              <a:t> </a:t>
            </a:r>
          </a:p>
          <a:p>
            <a:r>
              <a:rPr lang="en-US" dirty="0"/>
              <a:t>Fixing this situation will involve focusing on standardizing processes, improving training, and using the Power BI dashboard for proactive monitoring. The next step is to implement these findings in production, measure short-term improvements, and evaluate defect reduction over the next quarter.</a:t>
            </a:r>
          </a:p>
        </p:txBody>
      </p:sp>
      <p:sp>
        <p:nvSpPr>
          <p:cNvPr id="4" name="Slide Number Placeholder 3"/>
          <p:cNvSpPr>
            <a:spLocks noGrp="1"/>
          </p:cNvSpPr>
          <p:nvPr>
            <p:ph type="sldNum" sz="quarter" idx="5"/>
          </p:nvPr>
        </p:nvSpPr>
        <p:spPr/>
        <p:txBody>
          <a:bodyPr/>
          <a:lstStyle/>
          <a:p>
            <a:fld id="{208A758A-FE8E-497E-B457-B13C4A2804C5}" type="slidenum">
              <a:rPr lang="en-US"/>
              <a:t>11</a:t>
            </a:fld>
            <a:endParaRPr lang="en-US"/>
          </a:p>
        </p:txBody>
      </p:sp>
    </p:spTree>
    <p:extLst>
      <p:ext uri="{BB962C8B-B14F-4D97-AF65-F5344CB8AC3E}">
        <p14:creationId xmlns:p14="http://schemas.microsoft.com/office/powerpoint/2010/main" val="2473628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11/4/25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descr="Machine in a laboratory">
            <a:extLst>
              <a:ext uri="{FF2B5EF4-FFF2-40B4-BE49-F238E27FC236}">
                <a16:creationId xmlns:a16="http://schemas.microsoft.com/office/drawing/2014/main" id="{2EE24109-4565-C8BD-AB51-28442E1A046C}"/>
              </a:ext>
            </a:extLst>
          </p:cNvPr>
          <p:cNvPicPr>
            <a:picLocks noChangeAspect="1"/>
          </p:cNvPicPr>
          <p:nvPr/>
        </p:nvPicPr>
        <p:blipFill>
          <a:blip r:embed="rId3">
            <a:alphaModFix/>
          </a:blip>
          <a:srcRect t="11366" r="-2" b="4237"/>
          <a:stretch>
            <a:fillRect/>
          </a:stretch>
        </p:blipFill>
        <p:spPr>
          <a:xfrm>
            <a:off x="20" y="10"/>
            <a:ext cx="12191979" cy="6857990"/>
          </a:xfrm>
          <a:prstGeom prst="rect">
            <a:avLst/>
          </a:prstGeom>
        </p:spPr>
      </p:pic>
      <p:sp>
        <p:nvSpPr>
          <p:cNvPr id="17" name="Rectangle 16">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1137434"/>
            <a:ext cx="7800660" cy="1520987"/>
          </a:xfrm>
        </p:spPr>
        <p:txBody>
          <a:bodyPr anchor="t">
            <a:normAutofit/>
          </a:bodyPr>
          <a:lstStyle/>
          <a:p>
            <a:pPr algn="l"/>
            <a:r>
              <a:rPr lang="en-US" sz="4000" b="1" dirty="0">
                <a:solidFill>
                  <a:srgbClr val="FFC000"/>
                </a:solidFill>
                <a:ea typeface="+mj-lt"/>
                <a:cs typeface="+mj-lt"/>
              </a:rPr>
              <a:t>Manufacturing Defect Reduction Initiative</a:t>
            </a:r>
            <a:endParaRPr lang="en-US" sz="4000" b="1" dirty="0">
              <a:solidFill>
                <a:srgbClr val="FFC000"/>
              </a:solidFill>
            </a:endParaRPr>
          </a:p>
        </p:txBody>
      </p:sp>
      <p:sp>
        <p:nvSpPr>
          <p:cNvPr id="18" name="Rectangle 17">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838200" y="4293441"/>
            <a:ext cx="6295332" cy="1588514"/>
          </a:xfrm>
        </p:spPr>
        <p:txBody>
          <a:bodyPr anchor="b">
            <a:normAutofit/>
          </a:bodyPr>
          <a:lstStyle/>
          <a:p>
            <a:pPr algn="l"/>
            <a:r>
              <a:rPr lang="en-US" sz="1800" b="1" dirty="0">
                <a:solidFill>
                  <a:srgbClr val="FFC000"/>
                </a:solidFill>
              </a:rPr>
              <a:t>Curtis Flowers</a:t>
            </a:r>
          </a:p>
          <a:p>
            <a:pPr algn="l"/>
            <a:r>
              <a:rPr lang="en-US" sz="1800" b="1" dirty="0">
                <a:solidFill>
                  <a:srgbClr val="FFC000"/>
                </a:solidFill>
              </a:rPr>
              <a:t>DAT 475</a:t>
            </a:r>
          </a:p>
        </p:txBody>
      </p:sp>
      <p:cxnSp>
        <p:nvCxnSpPr>
          <p:cNvPr id="19" name="Straight Connector 18">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51BDD0-2D7A-AB79-6849-5689CA2D5335}"/>
              </a:ext>
            </a:extLst>
          </p:cNvPr>
          <p:cNvSpPr>
            <a:spLocks noGrp="1"/>
          </p:cNvSpPr>
          <p:nvPr>
            <p:ph type="title"/>
          </p:nvPr>
        </p:nvSpPr>
        <p:spPr>
          <a:xfrm>
            <a:off x="761803" y="350196"/>
            <a:ext cx="4646904" cy="1624520"/>
          </a:xfrm>
        </p:spPr>
        <p:txBody>
          <a:bodyPr anchor="ctr">
            <a:normAutofit/>
          </a:bodyPr>
          <a:lstStyle/>
          <a:p>
            <a:r>
              <a:rPr lang="en-US" sz="3700" b="1" dirty="0">
                <a:ea typeface="+mj-lt"/>
                <a:cs typeface="+mj-lt"/>
              </a:rPr>
              <a:t>Defining the Manufacturing Challenge</a:t>
            </a:r>
            <a:endParaRPr lang="en-US" sz="3700" b="1" dirty="0"/>
          </a:p>
        </p:txBody>
      </p:sp>
      <p:sp>
        <p:nvSpPr>
          <p:cNvPr id="3" name="Content Placeholder 2">
            <a:extLst>
              <a:ext uri="{FF2B5EF4-FFF2-40B4-BE49-F238E27FC236}">
                <a16:creationId xmlns:a16="http://schemas.microsoft.com/office/drawing/2014/main" id="{09CBD74D-13C9-2E49-EE23-6C2777F1174F}"/>
              </a:ext>
            </a:extLst>
          </p:cNvPr>
          <p:cNvSpPr>
            <a:spLocks noGrp="1"/>
          </p:cNvSpPr>
          <p:nvPr>
            <p:ph idx="1"/>
          </p:nvPr>
        </p:nvSpPr>
        <p:spPr>
          <a:xfrm>
            <a:off x="283110" y="2303585"/>
            <a:ext cx="5125597" cy="4052764"/>
          </a:xfrm>
        </p:spPr>
        <p:txBody>
          <a:bodyPr vert="horz" lIns="91440" tIns="45720" rIns="91440" bIns="45720" rtlCol="0" anchor="ctr">
            <a:normAutofit/>
          </a:bodyPr>
          <a:lstStyle/>
          <a:p>
            <a:r>
              <a:rPr lang="en-US" sz="2000" b="1" dirty="0">
                <a:solidFill>
                  <a:srgbClr val="0E101A"/>
                </a:solidFill>
                <a:ea typeface="+mn-lt"/>
                <a:cs typeface="+mn-lt"/>
              </a:rPr>
              <a:t>Problem:</a:t>
            </a:r>
            <a:r>
              <a:rPr lang="en-US" sz="2000" dirty="0">
                <a:solidFill>
                  <a:srgbClr val="0E101A"/>
                </a:solidFill>
                <a:ea typeface="+mn-lt"/>
                <a:cs typeface="+mn-lt"/>
              </a:rPr>
              <a:t> Rising defect rates across models and shifts are affecting quality and efficiency.</a:t>
            </a:r>
            <a:endParaRPr lang="en-US" sz="2000" dirty="0">
              <a:ea typeface="+mn-lt"/>
              <a:cs typeface="+mn-lt"/>
            </a:endParaRPr>
          </a:p>
          <a:p>
            <a:r>
              <a:rPr lang="en-US" sz="2000" b="1" dirty="0">
                <a:solidFill>
                  <a:srgbClr val="0E101A"/>
                </a:solidFill>
                <a:ea typeface="+mn-lt"/>
                <a:cs typeface="+mn-lt"/>
              </a:rPr>
              <a:t>Data Source:</a:t>
            </a:r>
            <a:r>
              <a:rPr lang="en-US" sz="2000" dirty="0">
                <a:solidFill>
                  <a:srgbClr val="0E101A"/>
                </a:solidFill>
                <a:ea typeface="+mn-lt"/>
                <a:cs typeface="+mn-lt"/>
              </a:rPr>
              <a:t> The 2025 production cycle dataset includes model ID, defect type, shift, and inspection week.</a:t>
            </a:r>
            <a:endParaRPr lang="en-US" dirty="0"/>
          </a:p>
          <a:p>
            <a:r>
              <a:rPr lang="en-US" sz="2000" b="1" dirty="0">
                <a:solidFill>
                  <a:srgbClr val="0E101A"/>
                </a:solidFill>
                <a:ea typeface="+mn-lt"/>
                <a:cs typeface="+mn-lt"/>
              </a:rPr>
              <a:t>Desired Outcome:</a:t>
            </a:r>
            <a:r>
              <a:rPr lang="en-US" sz="2000" dirty="0">
                <a:solidFill>
                  <a:srgbClr val="0E101A"/>
                </a:solidFill>
                <a:ea typeface="+mn-lt"/>
                <a:cs typeface="+mn-lt"/>
              </a:rPr>
              <a:t> Reduce total defects by 20% and improve process consistency across all shifts.</a:t>
            </a:r>
            <a:endParaRPr lang="en-US" dirty="0"/>
          </a:p>
          <a:p>
            <a:r>
              <a:rPr lang="en-US" sz="2000" b="1" dirty="0">
                <a:solidFill>
                  <a:srgbClr val="0E101A"/>
                </a:solidFill>
                <a:ea typeface="+mn-lt"/>
                <a:cs typeface="+mn-lt"/>
              </a:rPr>
              <a:t>Method:</a:t>
            </a:r>
            <a:r>
              <a:rPr lang="en-US" sz="2000" dirty="0">
                <a:solidFill>
                  <a:srgbClr val="0E101A"/>
                </a:solidFill>
                <a:ea typeface="+mn-lt"/>
                <a:cs typeface="+mn-lt"/>
              </a:rPr>
              <a:t> Use Pareto analysis, fishbone diagrams, ANOVA testing, and Power BI for identifying and monitoring root causes.</a:t>
            </a:r>
            <a:endParaRPr lang="en-US" dirty="0"/>
          </a:p>
          <a:p>
            <a:pPr marL="0" indent="0">
              <a:buNone/>
            </a:pPr>
            <a:endParaRPr lang="en-US" sz="2000" dirty="0"/>
          </a:p>
        </p:txBody>
      </p:sp>
      <p:pic>
        <p:nvPicPr>
          <p:cNvPr id="5" name="Picture 4" descr="Magnifying glass showing decling performance">
            <a:extLst>
              <a:ext uri="{FF2B5EF4-FFF2-40B4-BE49-F238E27FC236}">
                <a16:creationId xmlns:a16="http://schemas.microsoft.com/office/drawing/2014/main" id="{E4922CB2-FEA2-CFCB-03FF-D59596F28734}"/>
              </a:ext>
            </a:extLst>
          </p:cNvPr>
          <p:cNvPicPr>
            <a:picLocks noChangeAspect="1"/>
          </p:cNvPicPr>
          <p:nvPr/>
        </p:nvPicPr>
        <p:blipFill>
          <a:blip r:embed="rId3"/>
          <a:srcRect l="22313" r="18373" b="-3"/>
          <a:stretch>
            <a:fillRect/>
          </a:stretch>
        </p:blipFill>
        <p:spPr>
          <a:xfrm>
            <a:off x="6096000" y="1"/>
            <a:ext cx="6102825" cy="6858000"/>
          </a:xfrm>
          <a:prstGeom prst="rect">
            <a:avLst/>
          </a:prstGeom>
        </p:spPr>
      </p:pic>
    </p:spTree>
    <p:extLst>
      <p:ext uri="{BB962C8B-B14F-4D97-AF65-F5344CB8AC3E}">
        <p14:creationId xmlns:p14="http://schemas.microsoft.com/office/powerpoint/2010/main" val="247071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preadsheet and calculator">
            <a:extLst>
              <a:ext uri="{FF2B5EF4-FFF2-40B4-BE49-F238E27FC236}">
                <a16:creationId xmlns:a16="http://schemas.microsoft.com/office/drawing/2014/main" id="{F8E64AE8-9B2D-78B0-032F-D27547A09A18}"/>
              </a:ext>
            </a:extLst>
          </p:cNvPr>
          <p:cNvPicPr>
            <a:picLocks noChangeAspect="1"/>
          </p:cNvPicPr>
          <p:nvPr/>
        </p:nvPicPr>
        <p:blipFill>
          <a:blip r:embed="rId3" cstate="print">
            <a:extLst>
              <a:ext uri="{28A0092B-C50C-407E-A947-70E740481C1C}">
                <a14:useLocalDpi xmlns:a14="http://schemas.microsoft.com/office/drawing/2010/main" val="0"/>
              </a:ext>
            </a:extLst>
          </a:blip>
          <a:srcRect l="6236"/>
          <a:stretch>
            <a:fillRect/>
          </a:stretch>
        </p:blipFill>
        <p:spPr>
          <a:xfrm>
            <a:off x="1" y="49977"/>
            <a:ext cx="4096198" cy="6808023"/>
          </a:xfrm>
          <a:prstGeom prst="rect">
            <a:avLst/>
          </a:prstGeom>
        </p:spPr>
      </p:pic>
      <p:sp>
        <p:nvSpPr>
          <p:cNvPr id="20" name="Rectangle 1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6FA4A31-6CC5-4373-0F51-390B7004E74D}"/>
              </a:ext>
            </a:extLst>
          </p:cNvPr>
          <p:cNvSpPr>
            <a:spLocks noGrp="1"/>
          </p:cNvSpPr>
          <p:nvPr>
            <p:ph type="title"/>
          </p:nvPr>
        </p:nvSpPr>
        <p:spPr>
          <a:xfrm>
            <a:off x="4296233" y="56022"/>
            <a:ext cx="7707139" cy="1899912"/>
          </a:xfrm>
        </p:spPr>
        <p:txBody>
          <a:bodyPr vert="horz" lIns="91440" tIns="45720" rIns="91440" bIns="45720" rtlCol="0" anchor="ctr">
            <a:normAutofit/>
          </a:bodyPr>
          <a:lstStyle/>
          <a:p>
            <a:r>
              <a:rPr lang="en-US" sz="4000" b="1" dirty="0"/>
              <a:t>Data Preparation &amp; Methodology</a:t>
            </a:r>
          </a:p>
        </p:txBody>
      </p:sp>
      <p:sp>
        <p:nvSpPr>
          <p:cNvPr id="175" name="Content Placeholder 174">
            <a:extLst>
              <a:ext uri="{FF2B5EF4-FFF2-40B4-BE49-F238E27FC236}">
                <a16:creationId xmlns:a16="http://schemas.microsoft.com/office/drawing/2014/main" id="{CFF7E14F-BB45-1A05-7254-632B358FA188}"/>
              </a:ext>
            </a:extLst>
          </p:cNvPr>
          <p:cNvSpPr>
            <a:spLocks noGrp="1"/>
          </p:cNvSpPr>
          <p:nvPr>
            <p:ph sz="half" idx="1"/>
          </p:nvPr>
        </p:nvSpPr>
        <p:spPr>
          <a:xfrm>
            <a:off x="4635707" y="1388412"/>
            <a:ext cx="7030387" cy="4713600"/>
          </a:xfrm>
        </p:spPr>
        <p:txBody>
          <a:bodyPr vert="horz" lIns="91440" tIns="45720" rIns="91440" bIns="45720" rtlCol="0" anchor="t">
            <a:normAutofit/>
          </a:bodyPr>
          <a:lstStyle/>
          <a:p>
            <a:pPr marL="0" indent="0">
              <a:buNone/>
            </a:pPr>
            <a:r>
              <a:rPr lang="en-US" sz="1700" b="1" dirty="0">
                <a:solidFill>
                  <a:srgbClr val="1C1C1C"/>
                </a:solidFill>
                <a:ea typeface="+mn-lt"/>
                <a:cs typeface="+mn-lt"/>
              </a:rPr>
              <a:t>Data Preparation Steps:</a:t>
            </a:r>
            <a:endParaRPr lang="en-US" b="1" dirty="0"/>
          </a:p>
          <a:p>
            <a:pPr marL="285750" indent="-285750"/>
            <a:r>
              <a:rPr lang="en-US" sz="1700" dirty="0">
                <a:solidFill>
                  <a:srgbClr val="1C1C1C"/>
                </a:solidFill>
                <a:ea typeface="+mn-lt"/>
                <a:cs typeface="+mn-lt"/>
              </a:rPr>
              <a:t> Extracted production data from the 2025 case study file. </a:t>
            </a:r>
            <a:endParaRPr lang="en-US">
              <a:solidFill>
                <a:srgbClr val="000000"/>
              </a:solidFill>
              <a:ea typeface="+mn-lt"/>
              <a:cs typeface="+mn-lt"/>
            </a:endParaRPr>
          </a:p>
          <a:p>
            <a:pPr marL="285750" indent="-285750"/>
            <a:r>
              <a:rPr lang="en-US" sz="1700" dirty="0">
                <a:solidFill>
                  <a:srgbClr val="1C1C1C"/>
                </a:solidFill>
                <a:ea typeface="+mn-lt"/>
                <a:cs typeface="+mn-lt"/>
              </a:rPr>
              <a:t> Removed duplicate and incomplete records. </a:t>
            </a:r>
            <a:endParaRPr lang="en-US">
              <a:solidFill>
                <a:srgbClr val="000000"/>
              </a:solidFill>
              <a:ea typeface="+mn-lt"/>
              <a:cs typeface="+mn-lt"/>
            </a:endParaRPr>
          </a:p>
          <a:p>
            <a:pPr marL="285750" indent="-285750"/>
            <a:r>
              <a:rPr lang="en-US" sz="1700" dirty="0">
                <a:solidFill>
                  <a:srgbClr val="1C1C1C"/>
                </a:solidFill>
                <a:ea typeface="+mn-lt"/>
                <a:cs typeface="+mn-lt"/>
              </a:rPr>
              <a:t> Created a new field called “</a:t>
            </a:r>
            <a:r>
              <a:rPr lang="en-US" sz="1700" i="1" dirty="0">
                <a:solidFill>
                  <a:srgbClr val="1C1C1C"/>
                </a:solidFill>
                <a:ea typeface="+mn-lt"/>
                <a:cs typeface="+mn-lt"/>
              </a:rPr>
              <a:t>Week Number</a:t>
            </a:r>
            <a:r>
              <a:rPr lang="en-US" sz="1700" dirty="0">
                <a:solidFill>
                  <a:srgbClr val="1C1C1C"/>
                </a:solidFill>
                <a:ea typeface="+mn-lt"/>
                <a:cs typeface="+mn-lt"/>
              </a:rPr>
              <a:t>” from Inspection Week data for trend analysis. </a:t>
            </a:r>
            <a:endParaRPr lang="en-US">
              <a:solidFill>
                <a:srgbClr val="000000"/>
              </a:solidFill>
              <a:ea typeface="+mn-lt"/>
              <a:cs typeface="+mn-lt"/>
            </a:endParaRPr>
          </a:p>
          <a:p>
            <a:pPr marL="285750" indent="-285750"/>
            <a:r>
              <a:rPr lang="en-US" sz="1700" dirty="0">
                <a:solidFill>
                  <a:srgbClr val="1C1C1C"/>
                </a:solidFill>
                <a:ea typeface="+mn-lt"/>
                <a:cs typeface="+mn-lt"/>
              </a:rPr>
              <a:t> Converted the Shift and Model categories into numbers for statistical tests. </a:t>
            </a:r>
            <a:endParaRPr lang="en-US">
              <a:solidFill>
                <a:srgbClr val="000000"/>
              </a:solidFill>
              <a:ea typeface="+mn-lt"/>
              <a:cs typeface="+mn-lt"/>
            </a:endParaRPr>
          </a:p>
          <a:p>
            <a:pPr marL="0" indent="0">
              <a:buNone/>
            </a:pPr>
            <a:r>
              <a:rPr lang="en-US" sz="1700" b="1" dirty="0">
                <a:solidFill>
                  <a:srgbClr val="1C1C1C"/>
                </a:solidFill>
                <a:ea typeface="+mn-lt"/>
                <a:cs typeface="+mn-lt"/>
              </a:rPr>
              <a:t>Analytical Methods:</a:t>
            </a:r>
            <a:endParaRPr lang="en-US" b="1" dirty="0">
              <a:solidFill>
                <a:srgbClr val="000000"/>
              </a:solidFill>
              <a:ea typeface="+mn-lt"/>
              <a:cs typeface="+mn-lt"/>
            </a:endParaRPr>
          </a:p>
          <a:p>
            <a:pPr marL="285750" indent="-285750"/>
            <a:r>
              <a:rPr lang="en-US" sz="1700" dirty="0">
                <a:solidFill>
                  <a:srgbClr val="1C1C1C"/>
                </a:solidFill>
                <a:ea typeface="+mn-lt"/>
                <a:cs typeface="+mn-lt"/>
              </a:rPr>
              <a:t>Pareto Chart: Found the top 20% of causes responsible for 80% of defects. </a:t>
            </a:r>
            <a:endParaRPr lang="en-US">
              <a:solidFill>
                <a:srgbClr val="000000"/>
              </a:solidFill>
              <a:ea typeface="+mn-lt"/>
              <a:cs typeface="+mn-lt"/>
            </a:endParaRPr>
          </a:p>
          <a:p>
            <a:pPr marL="285750" indent="-285750"/>
            <a:r>
              <a:rPr lang="en-US" sz="1700" dirty="0">
                <a:solidFill>
                  <a:srgbClr val="1C1C1C"/>
                </a:solidFill>
                <a:ea typeface="+mn-lt"/>
                <a:cs typeface="+mn-lt"/>
              </a:rPr>
              <a:t>Fishbone Diagram: Identified potential root causes by category.</a:t>
            </a:r>
            <a:endParaRPr lang="en-US" dirty="0">
              <a:solidFill>
                <a:srgbClr val="000000"/>
              </a:solidFill>
              <a:ea typeface="+mn-lt"/>
              <a:cs typeface="+mn-lt"/>
            </a:endParaRPr>
          </a:p>
          <a:p>
            <a:pPr marL="285750" indent="-285750"/>
            <a:r>
              <a:rPr lang="en-US" sz="1700" dirty="0">
                <a:solidFill>
                  <a:srgbClr val="1C1C1C"/>
                </a:solidFill>
                <a:ea typeface="+mn-lt"/>
                <a:cs typeface="+mn-lt"/>
              </a:rPr>
              <a:t>ANOVA Test: Checked the differences in defect counts across models.</a:t>
            </a:r>
            <a:endParaRPr lang="en-US" dirty="0">
              <a:solidFill>
                <a:srgbClr val="000000"/>
              </a:solidFill>
              <a:ea typeface="+mn-lt"/>
              <a:cs typeface="+mn-lt"/>
            </a:endParaRPr>
          </a:p>
          <a:p>
            <a:pPr marL="285750" indent="-285750"/>
            <a:r>
              <a:rPr lang="en-US" sz="1700" dirty="0">
                <a:solidFill>
                  <a:srgbClr val="1C1C1C"/>
                </a:solidFill>
                <a:ea typeface="+mn-lt"/>
                <a:cs typeface="+mn-lt"/>
              </a:rPr>
              <a:t>Power BI Dashboard: Showed trends and performance metrics visually.</a:t>
            </a:r>
            <a:endParaRPr lang="en-US"/>
          </a:p>
          <a:p>
            <a:endParaRPr lang="en-US" dirty="0"/>
          </a:p>
        </p:txBody>
      </p:sp>
    </p:spTree>
    <p:extLst>
      <p:ext uri="{BB962C8B-B14F-4D97-AF65-F5344CB8AC3E}">
        <p14:creationId xmlns:p14="http://schemas.microsoft.com/office/powerpoint/2010/main" val="3346257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4E20026-465C-C468-A443-4C6C490E3E3F}"/>
              </a:ext>
            </a:extLst>
          </p:cNvPr>
          <p:cNvSpPr>
            <a:spLocks noGrp="1"/>
          </p:cNvSpPr>
          <p:nvPr>
            <p:ph type="title"/>
          </p:nvPr>
        </p:nvSpPr>
        <p:spPr>
          <a:xfrm>
            <a:off x="699714" y="5490971"/>
            <a:ext cx="6962072" cy="1159200"/>
          </a:xfrm>
        </p:spPr>
        <p:txBody>
          <a:bodyPr vert="horz" lIns="91440" tIns="45720" rIns="91440" bIns="45720" rtlCol="0" anchor="ctr">
            <a:normAutofit/>
          </a:bodyPr>
          <a:lstStyle/>
          <a:p>
            <a:r>
              <a:rPr lang="en-US" sz="3700" kern="1200">
                <a:solidFill>
                  <a:srgbClr val="FFFFFF"/>
                </a:solidFill>
                <a:latin typeface="+mj-lt"/>
                <a:ea typeface="+mj-ea"/>
                <a:cs typeface="+mj-cs"/>
              </a:rPr>
              <a:t>Root Cause Analysis (Fishbone Diagram)</a:t>
            </a:r>
          </a:p>
        </p:txBody>
      </p:sp>
      <p:pic>
        <p:nvPicPr>
          <p:cNvPr id="2" name="Picture 1" descr="A diagram of a diagram&#10;&#10;AI-generated content may be incorrect.">
            <a:extLst>
              <a:ext uri="{FF2B5EF4-FFF2-40B4-BE49-F238E27FC236}">
                <a16:creationId xmlns:a16="http://schemas.microsoft.com/office/drawing/2014/main" id="{A0E6EE57-2E18-7E15-2170-5DD12B15527B}"/>
              </a:ext>
            </a:extLst>
          </p:cNvPr>
          <p:cNvPicPr>
            <a:picLocks noChangeAspect="1"/>
          </p:cNvPicPr>
          <p:nvPr/>
        </p:nvPicPr>
        <p:blipFill>
          <a:blip r:embed="rId3"/>
          <a:stretch>
            <a:fillRect/>
          </a:stretch>
        </p:blipFill>
        <p:spPr>
          <a:xfrm>
            <a:off x="1064653" y="390832"/>
            <a:ext cx="10155313" cy="4519114"/>
          </a:xfrm>
          <a:prstGeom prst="rect">
            <a:avLst/>
          </a:prstGeom>
        </p:spPr>
      </p:pic>
    </p:spTree>
    <p:extLst>
      <p:ext uri="{BB962C8B-B14F-4D97-AF65-F5344CB8AC3E}">
        <p14:creationId xmlns:p14="http://schemas.microsoft.com/office/powerpoint/2010/main" val="172485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C391B-A19A-EAC3-81EF-661B21EFC62A}"/>
              </a:ext>
            </a:extLst>
          </p:cNvPr>
          <p:cNvSpPr>
            <a:spLocks noGrp="1"/>
          </p:cNvSpPr>
          <p:nvPr>
            <p:ph type="title"/>
          </p:nvPr>
        </p:nvSpPr>
        <p:spPr/>
        <p:txBody>
          <a:bodyPr/>
          <a:lstStyle/>
          <a:p>
            <a:r>
              <a:rPr lang="en-US" b="1" dirty="0">
                <a:ea typeface="+mj-lt"/>
                <a:cs typeface="+mj-lt"/>
              </a:rPr>
              <a:t>ANOVA Results and Interpretation</a:t>
            </a:r>
            <a:endParaRPr lang="en-US" b="1" dirty="0"/>
          </a:p>
        </p:txBody>
      </p:sp>
      <p:sp>
        <p:nvSpPr>
          <p:cNvPr id="3" name="Content Placeholder 2">
            <a:extLst>
              <a:ext uri="{FF2B5EF4-FFF2-40B4-BE49-F238E27FC236}">
                <a16:creationId xmlns:a16="http://schemas.microsoft.com/office/drawing/2014/main" id="{5461743E-23F4-50E2-1980-EA71722A5FD0}"/>
              </a:ext>
            </a:extLst>
          </p:cNvPr>
          <p:cNvSpPr>
            <a:spLocks noGrp="1"/>
          </p:cNvSpPr>
          <p:nvPr>
            <p:ph idx="1"/>
          </p:nvPr>
        </p:nvSpPr>
        <p:spPr/>
        <p:txBody>
          <a:bodyPr vert="horz" lIns="91440" tIns="45720" rIns="91440" bIns="45720" rtlCol="0" anchor="t">
            <a:normAutofit/>
          </a:bodyPr>
          <a:lstStyle/>
          <a:p>
            <a:pPr marL="0" indent="0">
              <a:buNone/>
            </a:pPr>
            <a:r>
              <a:rPr lang="en-US" b="1" dirty="0">
                <a:ea typeface="+mn-lt"/>
                <a:cs typeface="+mn-lt"/>
              </a:rPr>
              <a:t>Results:</a:t>
            </a:r>
            <a:endParaRPr lang="en-US" dirty="0"/>
          </a:p>
          <a:p>
            <a:pPr marL="0" indent="0">
              <a:buNone/>
            </a:pPr>
            <a:r>
              <a:rPr lang="en-US" b="1" dirty="0">
                <a:ea typeface="+mn-lt"/>
                <a:cs typeface="+mn-lt"/>
              </a:rPr>
              <a:t>F = 0.5789</a:t>
            </a:r>
            <a:endParaRPr lang="en-US" dirty="0"/>
          </a:p>
          <a:p>
            <a:pPr marL="0" indent="0">
              <a:buNone/>
            </a:pPr>
            <a:r>
              <a:rPr lang="en-US" b="1" dirty="0">
                <a:ea typeface="+mn-lt"/>
                <a:cs typeface="+mn-lt"/>
              </a:rPr>
              <a:t>p = 0.5646</a:t>
            </a:r>
            <a:r>
              <a:rPr lang="en-US" dirty="0">
                <a:ea typeface="+mn-lt"/>
                <a:cs typeface="+mn-lt"/>
              </a:rPr>
              <a:t> (p &gt; 0.05 → fail to reject H₀)</a:t>
            </a:r>
            <a:endParaRPr lang="en-US" dirty="0"/>
          </a:p>
          <a:p>
            <a:pPr marL="0" indent="0">
              <a:buNone/>
            </a:pPr>
            <a:endParaRPr lang="en-US" dirty="0">
              <a:ea typeface="+mn-lt"/>
              <a:cs typeface="+mn-lt"/>
            </a:endParaRPr>
          </a:p>
          <a:p>
            <a:r>
              <a:rPr lang="en-US" b="1" dirty="0">
                <a:ea typeface="+mn-lt"/>
                <a:cs typeface="+mn-lt"/>
              </a:rPr>
              <a:t>Conclusion:</a:t>
            </a:r>
            <a:r>
              <a:rPr lang="en-US" dirty="0">
                <a:ea typeface="+mn-lt"/>
                <a:cs typeface="+mn-lt"/>
              </a:rPr>
              <a:t> </a:t>
            </a:r>
            <a:r>
              <a:rPr lang="en-US" sz="2000" dirty="0">
                <a:ea typeface="+mn-lt"/>
                <a:cs typeface="+mn-lt"/>
              </a:rPr>
              <a:t>No statistically significant difference between models. Defects are process-related rather than model-specific. Improvement efforts should target production consistency and system-wide process control.</a:t>
            </a:r>
            <a:endParaRPr lang="en-US" sz="2000" dirty="0"/>
          </a:p>
          <a:p>
            <a:endParaRPr lang="en-US" dirty="0"/>
          </a:p>
        </p:txBody>
      </p:sp>
      <p:sp>
        <p:nvSpPr>
          <p:cNvPr id="4" name="Text Placeholder 3">
            <a:extLst>
              <a:ext uri="{FF2B5EF4-FFF2-40B4-BE49-F238E27FC236}">
                <a16:creationId xmlns:a16="http://schemas.microsoft.com/office/drawing/2014/main" id="{DD1396EE-F78C-BECA-7A80-A47E8DDB6A0C}"/>
              </a:ext>
            </a:extLst>
          </p:cNvPr>
          <p:cNvSpPr>
            <a:spLocks noGrp="1"/>
          </p:cNvSpPr>
          <p:nvPr>
            <p:ph type="body" sz="half" idx="2"/>
          </p:nvPr>
        </p:nvSpPr>
        <p:spPr>
          <a:xfrm>
            <a:off x="839788" y="2906842"/>
            <a:ext cx="3932237" cy="2949655"/>
          </a:xfrm>
        </p:spPr>
        <p:txBody>
          <a:bodyPr vert="horz" lIns="91440" tIns="45720" rIns="91440" bIns="45720" rtlCol="0" anchor="t">
            <a:normAutofit/>
          </a:bodyPr>
          <a:lstStyle/>
          <a:p>
            <a:r>
              <a:rPr lang="en-US" sz="2000" b="1" dirty="0">
                <a:ea typeface="+mn-lt"/>
                <a:cs typeface="+mn-lt"/>
              </a:rPr>
              <a:t>Hypothesis Testing (One-Way ANOVA)</a:t>
            </a:r>
            <a:endParaRPr lang="en-US" sz="2000"/>
          </a:p>
          <a:p>
            <a:pPr marL="285750" indent="-285750">
              <a:buFont typeface="Arial"/>
              <a:buChar char="•"/>
            </a:pPr>
            <a:r>
              <a:rPr lang="en-US" sz="2000" b="1" dirty="0">
                <a:ea typeface="+mn-lt"/>
                <a:cs typeface="+mn-lt"/>
              </a:rPr>
              <a:t>H₀:</a:t>
            </a:r>
            <a:r>
              <a:rPr lang="en-US" sz="2000" dirty="0">
                <a:ea typeface="+mn-lt"/>
                <a:cs typeface="+mn-lt"/>
              </a:rPr>
              <a:t> No significant difference in mean defect rates across models.</a:t>
            </a:r>
            <a:endParaRPr lang="en-US" sz="2000"/>
          </a:p>
          <a:p>
            <a:pPr marL="285750" indent="-285750">
              <a:buFont typeface="Arial"/>
              <a:buChar char="•"/>
            </a:pPr>
            <a:r>
              <a:rPr lang="en-US" sz="2000" b="1" dirty="0">
                <a:ea typeface="+mn-lt"/>
                <a:cs typeface="+mn-lt"/>
              </a:rPr>
              <a:t>H₁:</a:t>
            </a:r>
            <a:r>
              <a:rPr lang="en-US" sz="2000" dirty="0">
                <a:ea typeface="+mn-lt"/>
                <a:cs typeface="+mn-lt"/>
              </a:rPr>
              <a:t> At least one model differs significantly.</a:t>
            </a:r>
            <a:endParaRPr lang="en-US" sz="2000" dirty="0"/>
          </a:p>
          <a:p>
            <a:endParaRPr lang="en-US" dirty="0"/>
          </a:p>
        </p:txBody>
      </p:sp>
    </p:spTree>
    <p:extLst>
      <p:ext uri="{BB962C8B-B14F-4D97-AF65-F5344CB8AC3E}">
        <p14:creationId xmlns:p14="http://schemas.microsoft.com/office/powerpoint/2010/main" val="1159472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4018C-95B3-730C-3A38-78A726176331}"/>
              </a:ext>
            </a:extLst>
          </p:cNvPr>
          <p:cNvSpPr>
            <a:spLocks noGrp="1"/>
          </p:cNvSpPr>
          <p:nvPr>
            <p:ph type="title"/>
          </p:nvPr>
        </p:nvSpPr>
        <p:spPr/>
        <p:txBody>
          <a:bodyPr/>
          <a:lstStyle/>
          <a:p>
            <a:r>
              <a:rPr lang="en-US" dirty="0">
                <a:ea typeface="+mj-lt"/>
                <a:cs typeface="+mj-lt"/>
              </a:rPr>
              <a:t>Power BI Dashboard Overview</a:t>
            </a:r>
            <a:endParaRPr lang="en-US" dirty="0"/>
          </a:p>
        </p:txBody>
      </p:sp>
      <p:pic>
        <p:nvPicPr>
          <p:cNvPr id="4" name="Content Placeholder 3" descr="A screenshot of a graph&#10;&#10;AI-generated content may be incorrect.">
            <a:extLst>
              <a:ext uri="{FF2B5EF4-FFF2-40B4-BE49-F238E27FC236}">
                <a16:creationId xmlns:a16="http://schemas.microsoft.com/office/drawing/2014/main" id="{D5E3FEA2-8917-D069-346A-73379C5D0BD0}"/>
              </a:ext>
            </a:extLst>
          </p:cNvPr>
          <p:cNvPicPr>
            <a:picLocks noGrp="1" noChangeAspect="1"/>
          </p:cNvPicPr>
          <p:nvPr>
            <p:ph idx="1"/>
          </p:nvPr>
        </p:nvPicPr>
        <p:blipFill>
          <a:blip r:embed="rId3"/>
          <a:stretch>
            <a:fillRect/>
          </a:stretch>
        </p:blipFill>
        <p:spPr>
          <a:xfrm>
            <a:off x="1958932" y="1825625"/>
            <a:ext cx="8274135" cy="4351338"/>
          </a:xfrm>
          <a:prstGeom prst="rect">
            <a:avLst/>
          </a:prstGeom>
        </p:spPr>
      </p:pic>
      <p:sp>
        <p:nvSpPr>
          <p:cNvPr id="5" name="TextBox 4">
            <a:extLst>
              <a:ext uri="{FF2B5EF4-FFF2-40B4-BE49-F238E27FC236}">
                <a16:creationId xmlns:a16="http://schemas.microsoft.com/office/drawing/2014/main" id="{1589E9EE-0B1B-080E-6767-9A8256A3F203}"/>
              </a:ext>
            </a:extLst>
          </p:cNvPr>
          <p:cNvSpPr txBox="1"/>
          <p:nvPr/>
        </p:nvSpPr>
        <p:spPr>
          <a:xfrm>
            <a:off x="1811312" y="5177853"/>
            <a:ext cx="970613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p>
          <a:p>
            <a:pPr marL="228600" indent="-228600">
              <a:buFont typeface=""/>
              <a:buChar char="•"/>
            </a:pPr>
            <a:r>
              <a:rPr lang="en-US" b="1" dirty="0"/>
              <a:t>Slicers:</a:t>
            </a:r>
            <a:r>
              <a:rPr lang="en-US" dirty="0"/>
              <a:t> Filter by Production Model, Shift Time, and Defect Type for targeted insights.</a:t>
            </a:r>
          </a:p>
        </p:txBody>
      </p:sp>
      <p:sp>
        <p:nvSpPr>
          <p:cNvPr id="6" name="Callout: Bent Line 5">
            <a:extLst>
              <a:ext uri="{FF2B5EF4-FFF2-40B4-BE49-F238E27FC236}">
                <a16:creationId xmlns:a16="http://schemas.microsoft.com/office/drawing/2014/main" id="{73148CF3-174B-4FB6-4007-80557884E0B4}"/>
              </a:ext>
            </a:extLst>
          </p:cNvPr>
          <p:cNvSpPr/>
          <p:nvPr/>
        </p:nvSpPr>
        <p:spPr>
          <a:xfrm>
            <a:off x="9856033" y="187377"/>
            <a:ext cx="2335966" cy="1886261"/>
          </a:xfrm>
          <a:prstGeom prst="borderCallout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0000"/>
                </a:solidFill>
              </a:rPr>
              <a:t>Weekly Total Defects — shows weekly fluctuations and gradual improvement.</a:t>
            </a:r>
          </a:p>
          <a:p>
            <a:pPr algn="ctr"/>
            <a:endParaRPr lang="en-US" dirty="0"/>
          </a:p>
        </p:txBody>
      </p:sp>
      <p:sp>
        <p:nvSpPr>
          <p:cNvPr id="8" name="Callout: Double Bent Line with Accent Bar 7">
            <a:extLst>
              <a:ext uri="{FF2B5EF4-FFF2-40B4-BE49-F238E27FC236}">
                <a16:creationId xmlns:a16="http://schemas.microsoft.com/office/drawing/2014/main" id="{68D92C31-80FE-DDD9-78C5-7758A45B26D4}"/>
              </a:ext>
            </a:extLst>
          </p:cNvPr>
          <p:cNvSpPr/>
          <p:nvPr/>
        </p:nvSpPr>
        <p:spPr>
          <a:xfrm>
            <a:off x="386107" y="2073638"/>
            <a:ext cx="1499015" cy="2223539"/>
          </a:xfrm>
          <a:prstGeom prst="accentCallout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baseline="0" dirty="0">
                <a:solidFill>
                  <a:schemeClr val="tx1"/>
                </a:solidFill>
                <a:ea typeface="+mn-lt"/>
                <a:cs typeface="+mn-lt"/>
              </a:rPr>
              <a:t>Defects </a:t>
            </a:r>
            <a:r>
              <a:rPr lang="en-US" sz="2000" b="1" dirty="0">
                <a:solidFill>
                  <a:schemeClr val="tx1"/>
                </a:solidFill>
                <a:ea typeface="+mn-lt"/>
                <a:cs typeface="+mn-lt"/>
              </a:rPr>
              <a:t>by Shift Time</a:t>
            </a:r>
            <a:r>
              <a:rPr lang="en-US" sz="2000" dirty="0">
                <a:solidFill>
                  <a:schemeClr val="tx1"/>
                </a:solidFill>
                <a:ea typeface="+mn-lt"/>
                <a:cs typeface="+mn-lt"/>
              </a:rPr>
              <a:t> </a:t>
            </a:r>
            <a:r>
              <a:rPr lang="en-US" sz="2000" baseline="0" dirty="0">
                <a:solidFill>
                  <a:schemeClr val="tx1"/>
                </a:solidFill>
                <a:ea typeface="+mn-lt"/>
                <a:cs typeface="+mn-lt"/>
              </a:rPr>
              <a:t>— shows </a:t>
            </a:r>
            <a:r>
              <a:rPr lang="en-US" sz="2000" dirty="0">
                <a:solidFill>
                  <a:schemeClr val="tx1"/>
                </a:solidFill>
                <a:ea typeface="+mn-lt"/>
                <a:cs typeface="+mn-lt"/>
              </a:rPr>
              <a:t>highest defect count on night shift.</a:t>
            </a:r>
            <a:endParaRPr lang="en-US" sz="2000" dirty="0">
              <a:solidFill>
                <a:schemeClr val="tx1"/>
              </a:solidFill>
              <a:cs typeface="Arial"/>
            </a:endParaRPr>
          </a:p>
        </p:txBody>
      </p:sp>
      <p:cxnSp>
        <p:nvCxnSpPr>
          <p:cNvPr id="7" name="Straight Connector 6">
            <a:extLst>
              <a:ext uri="{FF2B5EF4-FFF2-40B4-BE49-F238E27FC236}">
                <a16:creationId xmlns:a16="http://schemas.microsoft.com/office/drawing/2014/main" id="{6E78E78B-118A-107A-CBAC-21469287FD05}"/>
              </a:ext>
            </a:extLst>
          </p:cNvPr>
          <p:cNvCxnSpPr/>
          <p:nvPr/>
        </p:nvCxnSpPr>
        <p:spPr>
          <a:xfrm>
            <a:off x="250521" y="4584526"/>
            <a:ext cx="1708411"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43542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1106300-3B8A-30F7-7F3F-22CD26F56D00}"/>
              </a:ext>
            </a:extLst>
          </p:cNvPr>
          <p:cNvSpPr txBox="1"/>
          <p:nvPr/>
        </p:nvSpPr>
        <p:spPr>
          <a:xfrm>
            <a:off x="521755" y="611042"/>
            <a:ext cx="8126441" cy="108781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kern="1200" dirty="0">
                <a:solidFill>
                  <a:schemeClr val="tx1"/>
                </a:solidFill>
                <a:latin typeface="+mj-lt"/>
                <a:ea typeface="+mj-ea"/>
                <a:cs typeface="+mj-cs"/>
              </a:rPr>
              <a:t>Pareto Analysis</a:t>
            </a:r>
            <a:r>
              <a:rPr lang="en-US" sz="2600" b="1" kern="1200" dirty="0">
                <a:solidFill>
                  <a:schemeClr val="tx1"/>
                </a:solidFill>
                <a:latin typeface="+mj-lt"/>
                <a:ea typeface="+mj-ea"/>
                <a:cs typeface="+mj-cs"/>
              </a:rPr>
              <a:t> (Defect Count by Production Model)</a:t>
            </a:r>
          </a:p>
          <a:p>
            <a:pPr>
              <a:lnSpc>
                <a:spcPct val="90000"/>
              </a:lnSpc>
              <a:spcBef>
                <a:spcPct val="0"/>
              </a:spcBef>
              <a:spcAft>
                <a:spcPts val="600"/>
              </a:spcAft>
            </a:pPr>
            <a:endParaRPr lang="en-US" sz="2600" kern="1200" dirty="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D4BB5A9F-21DD-BBA6-4F99-9FF3F5D86ECC}"/>
              </a:ext>
            </a:extLst>
          </p:cNvPr>
          <p:cNvSpPr txBox="1"/>
          <p:nvPr/>
        </p:nvSpPr>
        <p:spPr>
          <a:xfrm>
            <a:off x="411480" y="2501129"/>
            <a:ext cx="3341654" cy="3675834"/>
          </a:xfrm>
          <a:prstGeom prst="rect">
            <a:avLst/>
          </a:prstGeom>
        </p:spPr>
        <p:txBody>
          <a:bodyPr vert="horz" lIns="91440" tIns="45720" rIns="91440" bIns="45720" rtlCol="0" anchor="t">
            <a:normAutofit/>
          </a:bodyPr>
          <a:lstStyle/>
          <a:p>
            <a:pPr marL="285750" indent="-285750">
              <a:lnSpc>
                <a:spcPct val="90000"/>
              </a:lnSpc>
              <a:spcAft>
                <a:spcPts val="600"/>
              </a:spcAft>
              <a:buFont typeface="Arial"/>
              <a:buChar char="•"/>
            </a:pPr>
            <a:r>
              <a:rPr lang="en-US" dirty="0"/>
              <a:t>This chart shows the total number of defects for all production models</a:t>
            </a:r>
            <a:endParaRPr lang="en-US"/>
          </a:p>
          <a:p>
            <a:pPr>
              <a:lnSpc>
                <a:spcPct val="90000"/>
              </a:lnSpc>
              <a:spcAft>
                <a:spcPts val="600"/>
              </a:spcAft>
            </a:pPr>
            <a:endParaRPr lang="en-US" dirty="0"/>
          </a:p>
          <a:p>
            <a:pPr marL="285750" indent="-285750">
              <a:lnSpc>
                <a:spcPct val="90000"/>
              </a:lnSpc>
              <a:spcAft>
                <a:spcPts val="600"/>
              </a:spcAft>
              <a:buFont typeface="Arial"/>
              <a:buChar char="•"/>
            </a:pPr>
            <a:r>
              <a:rPr lang="en-US" dirty="0"/>
              <a:t>The three models at the top account for approximately 80% of all documented defects</a:t>
            </a:r>
          </a:p>
          <a:p>
            <a:pPr>
              <a:lnSpc>
                <a:spcPct val="90000"/>
              </a:lnSpc>
              <a:spcAft>
                <a:spcPts val="600"/>
              </a:spcAft>
            </a:pPr>
            <a:endParaRPr lang="en-US" dirty="0"/>
          </a:p>
          <a:p>
            <a:pPr marL="285750" indent="-285750">
              <a:lnSpc>
                <a:spcPct val="90000"/>
              </a:lnSpc>
              <a:spcAft>
                <a:spcPts val="600"/>
              </a:spcAft>
              <a:buFont typeface="Arial"/>
              <a:buChar char="•"/>
            </a:pPr>
            <a:r>
              <a:rPr lang="en-US" dirty="0"/>
              <a:t>Focusing on these high-impact models presents the greatest opportunity for reducing overall defects.</a:t>
            </a:r>
          </a:p>
        </p:txBody>
      </p:sp>
      <p:pic>
        <p:nvPicPr>
          <p:cNvPr id="2" name="Picture 1" descr="A graph with numbers and a line&#10;&#10;AI-generated content may be incorrect.">
            <a:extLst>
              <a:ext uri="{FF2B5EF4-FFF2-40B4-BE49-F238E27FC236}">
                <a16:creationId xmlns:a16="http://schemas.microsoft.com/office/drawing/2014/main" id="{3FCE884D-6C51-0424-60DE-9CCDF7699CD2}"/>
              </a:ext>
            </a:extLst>
          </p:cNvPr>
          <p:cNvPicPr>
            <a:picLocks noChangeAspect="1"/>
          </p:cNvPicPr>
          <p:nvPr/>
        </p:nvPicPr>
        <p:blipFill>
          <a:blip r:embed="rId3"/>
          <a:stretch>
            <a:fillRect/>
          </a:stretch>
        </p:blipFill>
        <p:spPr>
          <a:xfrm>
            <a:off x="4036337" y="1275714"/>
            <a:ext cx="7789903" cy="4901249"/>
          </a:xfrm>
          <a:prstGeom prst="rect">
            <a:avLst/>
          </a:prstGeom>
        </p:spPr>
      </p:pic>
    </p:spTree>
    <p:extLst>
      <p:ext uri="{BB962C8B-B14F-4D97-AF65-F5344CB8AC3E}">
        <p14:creationId xmlns:p14="http://schemas.microsoft.com/office/powerpoint/2010/main" val="129598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AAE290C-1C4D-A18C-E11B-299676914BC6}"/>
              </a:ext>
            </a:extLst>
          </p:cNvPr>
          <p:cNvSpPr txBox="1"/>
          <p:nvPr/>
        </p:nvSpPr>
        <p:spPr>
          <a:xfrm>
            <a:off x="643427" y="379127"/>
            <a:ext cx="3515227" cy="1800413"/>
          </a:xfrm>
          <a:prstGeom prst="rect">
            <a:avLst/>
          </a:prstGeom>
        </p:spPr>
        <p:txBody>
          <a:bodyPr vert="horz" lIns="91440" tIns="45720" rIns="91440" bIns="45720" rtlCol="0" anchor="b">
            <a:normAutofit lnSpcReduction="10000"/>
          </a:bodyPr>
          <a:lstStyle/>
          <a:p>
            <a:pPr>
              <a:lnSpc>
                <a:spcPct val="90000"/>
              </a:lnSpc>
              <a:spcBef>
                <a:spcPct val="0"/>
              </a:spcBef>
              <a:spcAft>
                <a:spcPts val="600"/>
              </a:spcAft>
            </a:pPr>
            <a:r>
              <a:rPr lang="en-US" sz="3200" b="1" kern="1200" dirty="0">
                <a:latin typeface="+mj-lt"/>
                <a:ea typeface="+mj-ea"/>
                <a:cs typeface="+mj-cs"/>
              </a:rPr>
              <a:t>Pareto Chart – Defect Count by Type (Model 595130-195)</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09F3052-48EC-15E5-00FF-AC2B7E1EC2C5}"/>
              </a:ext>
            </a:extLst>
          </p:cNvPr>
          <p:cNvSpPr txBox="1"/>
          <p:nvPr/>
        </p:nvSpPr>
        <p:spPr>
          <a:xfrm>
            <a:off x="147264" y="2582356"/>
            <a:ext cx="4162508" cy="3410712"/>
          </a:xfrm>
          <a:prstGeom prst="rect">
            <a:avLst/>
          </a:prstGeom>
        </p:spPr>
        <p:txBody>
          <a:bodyPr vert="horz" lIns="91440" tIns="45720" rIns="91440" bIns="45720" rtlCol="0" anchor="t">
            <a:noAutofit/>
          </a:bodyPr>
          <a:lstStyle/>
          <a:p>
            <a:pPr marL="342900" indent="-342900">
              <a:lnSpc>
                <a:spcPct val="90000"/>
              </a:lnSpc>
              <a:spcAft>
                <a:spcPts val="600"/>
              </a:spcAft>
              <a:buFont typeface="Arial"/>
              <a:buChar char="•"/>
            </a:pPr>
            <a:r>
              <a:rPr lang="en-US" sz="2000" dirty="0"/>
              <a:t>This chart shows which defect types contribute most to the defect count for Model 595130-195</a:t>
            </a:r>
            <a:endParaRPr lang="en-US"/>
          </a:p>
          <a:p>
            <a:pPr>
              <a:lnSpc>
                <a:spcPct val="90000"/>
              </a:lnSpc>
              <a:spcAft>
                <a:spcPts val="600"/>
              </a:spcAft>
            </a:pPr>
            <a:endParaRPr lang="en-US" sz="2000" dirty="0"/>
          </a:p>
          <a:p>
            <a:pPr marL="342900" indent="-342900">
              <a:lnSpc>
                <a:spcPct val="90000"/>
              </a:lnSpc>
              <a:spcAft>
                <a:spcPts val="600"/>
              </a:spcAft>
              <a:buFont typeface="Arial"/>
              <a:buChar char="•"/>
            </a:pPr>
            <a:r>
              <a:rPr lang="en-US" sz="2000" dirty="0"/>
              <a:t>Missing components, misalignment, &amp; improper assembly represent the majority of total defects</a:t>
            </a:r>
          </a:p>
          <a:p>
            <a:pPr>
              <a:lnSpc>
                <a:spcPct val="90000"/>
              </a:lnSpc>
              <a:spcAft>
                <a:spcPts val="600"/>
              </a:spcAft>
            </a:pPr>
            <a:endParaRPr lang="en-US" sz="2000" dirty="0"/>
          </a:p>
          <a:p>
            <a:pPr marL="342900" indent="-342900">
              <a:lnSpc>
                <a:spcPct val="90000"/>
              </a:lnSpc>
              <a:spcAft>
                <a:spcPts val="600"/>
              </a:spcAft>
              <a:buFont typeface="Arial"/>
              <a:buChar char="•"/>
            </a:pPr>
            <a:r>
              <a:rPr lang="en-US" sz="2000" dirty="0"/>
              <a:t>The Pareto curve confirms that roughly 80% of total defects come from a small number of defect categories</a:t>
            </a:r>
          </a:p>
        </p:txBody>
      </p:sp>
      <p:pic>
        <p:nvPicPr>
          <p:cNvPr id="3" name="Picture 2" descr="A graph with blue lines&#10;&#10;AI-generated content may be incorrect.">
            <a:extLst>
              <a:ext uri="{FF2B5EF4-FFF2-40B4-BE49-F238E27FC236}">
                <a16:creationId xmlns:a16="http://schemas.microsoft.com/office/drawing/2014/main" id="{486F14EC-19C4-8428-CDEF-4AFF447018E9}"/>
              </a:ext>
            </a:extLst>
          </p:cNvPr>
          <p:cNvPicPr>
            <a:picLocks noChangeAspect="1"/>
          </p:cNvPicPr>
          <p:nvPr/>
        </p:nvPicPr>
        <p:blipFill>
          <a:blip r:embed="rId3"/>
          <a:stretch>
            <a:fillRect/>
          </a:stretch>
        </p:blipFill>
        <p:spPr>
          <a:xfrm>
            <a:off x="4311981" y="213699"/>
            <a:ext cx="7670297" cy="6052813"/>
          </a:xfrm>
          <a:prstGeom prst="rect">
            <a:avLst/>
          </a:prstGeom>
        </p:spPr>
      </p:pic>
    </p:spTree>
    <p:extLst>
      <p:ext uri="{BB962C8B-B14F-4D97-AF65-F5344CB8AC3E}">
        <p14:creationId xmlns:p14="http://schemas.microsoft.com/office/powerpoint/2010/main" val="209586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3C9C9E0-CBCC-4CC7-BFC4-1E2179154729}"/>
              </a:ext>
            </a:extLst>
          </p:cNvPr>
          <p:cNvSpPr txBox="1"/>
          <p:nvPr/>
        </p:nvSpPr>
        <p:spPr>
          <a:xfrm>
            <a:off x="261021" y="649224"/>
            <a:ext cx="4818888" cy="10212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000" b="1" kern="1200" dirty="0">
                <a:solidFill>
                  <a:schemeClr val="tx1"/>
                </a:solidFill>
                <a:effectLst/>
                <a:latin typeface="+mj-lt"/>
                <a:ea typeface="+mj-ea"/>
                <a:cs typeface="+mj-cs"/>
              </a:rPr>
              <a:t>Pareto Chart – Defect Count by Type (Model 595214-125)</a:t>
            </a:r>
            <a:endParaRPr lang="en-US" sz="3000" b="1"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9EF8BBE-EF62-EF0F-8951-F386A28839C8}"/>
              </a:ext>
            </a:extLst>
          </p:cNvPr>
          <p:cNvSpPr txBox="1"/>
          <p:nvPr/>
        </p:nvSpPr>
        <p:spPr>
          <a:xfrm>
            <a:off x="261021" y="2660904"/>
            <a:ext cx="4431643" cy="3547872"/>
          </a:xfrm>
          <a:prstGeom prst="rect">
            <a:avLst/>
          </a:prstGeom>
        </p:spPr>
        <p:txBody>
          <a:bodyPr vert="horz" lIns="91440" tIns="45720" rIns="91440" bIns="45720" rtlCol="0" anchor="t">
            <a:normAutofit/>
          </a:bodyPr>
          <a:lstStyle/>
          <a:p>
            <a:pPr marL="342900" lvl="0" indent="-342900">
              <a:buFont typeface="Arial" panose="020B0604020202020204" pitchFamily="34" charset="0"/>
              <a:buChar char="•"/>
            </a:pPr>
            <a:r>
              <a:rPr lang="en-US" sz="2000" dirty="0"/>
              <a:t>Majority of defects come from a few key types: solder bridges, tilted components, and pin holes.</a:t>
            </a:r>
          </a:p>
          <a:p>
            <a:pPr lvl="0"/>
            <a:endParaRPr lang="en-US" sz="2000" dirty="0"/>
          </a:p>
          <a:p>
            <a:pPr marL="342900" lvl="0" indent="-342900">
              <a:buFont typeface="Arial" panose="020B0604020202020204" pitchFamily="34" charset="0"/>
              <a:buChar char="•"/>
            </a:pPr>
            <a:r>
              <a:rPr lang="en-US" sz="2000" dirty="0"/>
              <a:t>The Pareto curve confirms that the top 20% of defect categories cause nearly 80% of total defects.</a:t>
            </a:r>
          </a:p>
          <a:p>
            <a:pPr lvl="0"/>
            <a:endParaRPr lang="en-US" sz="2000" dirty="0"/>
          </a:p>
          <a:p>
            <a:pPr marL="342900" lvl="0" indent="-342900">
              <a:buFont typeface="Arial" panose="020B0604020202020204" pitchFamily="34" charset="0"/>
              <a:buChar char="•"/>
            </a:pPr>
            <a:r>
              <a:rPr lang="en-US" sz="2000" dirty="0"/>
              <a:t>Addressing these top causes offers the highest potential for immediate quality improvement.</a:t>
            </a:r>
            <a:endParaRPr lang="en-US" sz="2000" dirty="0">
              <a:effectLst/>
            </a:endParaRPr>
          </a:p>
        </p:txBody>
      </p:sp>
      <p:pic>
        <p:nvPicPr>
          <p:cNvPr id="2" name="Picture 1" descr="A graph with blue lines&#10;&#10;AI-generated content may be incorrect.">
            <a:extLst>
              <a:ext uri="{FF2B5EF4-FFF2-40B4-BE49-F238E27FC236}">
                <a16:creationId xmlns:a16="http://schemas.microsoft.com/office/drawing/2014/main" id="{790E74F6-17D9-8CE9-20F7-1B308227C592}"/>
              </a:ext>
            </a:extLst>
          </p:cNvPr>
          <p:cNvPicPr>
            <a:picLocks noChangeAspect="1"/>
          </p:cNvPicPr>
          <p:nvPr/>
        </p:nvPicPr>
        <p:blipFill>
          <a:blip r:embed="rId3"/>
          <a:stretch>
            <a:fillRect/>
          </a:stretch>
        </p:blipFill>
        <p:spPr>
          <a:xfrm>
            <a:off x="5201229" y="904347"/>
            <a:ext cx="6804169" cy="5049305"/>
          </a:xfrm>
          <a:prstGeom prst="rect">
            <a:avLst/>
          </a:prstGeom>
        </p:spPr>
      </p:pic>
    </p:spTree>
    <p:extLst>
      <p:ext uri="{BB962C8B-B14F-4D97-AF65-F5344CB8AC3E}">
        <p14:creationId xmlns:p14="http://schemas.microsoft.com/office/powerpoint/2010/main" val="3119437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39E2045-6C69-70E6-C0F6-C7DDC9F33B27}"/>
              </a:ext>
            </a:extLst>
          </p:cNvPr>
          <p:cNvSpPr txBox="1"/>
          <p:nvPr/>
        </p:nvSpPr>
        <p:spPr>
          <a:xfrm>
            <a:off x="190375" y="512745"/>
            <a:ext cx="4368602" cy="1569596"/>
          </a:xfrm>
          <a:prstGeom prst="rect">
            <a:avLst/>
          </a:prstGeom>
        </p:spPr>
        <p:txBody>
          <a:bodyPr vert="horz" lIns="91440" tIns="45720" rIns="91440" bIns="45720" rtlCol="0" anchor="b">
            <a:normAutofit/>
          </a:bodyPr>
          <a:lstStyle/>
          <a:p>
            <a:pPr marL="0" marR="0">
              <a:lnSpc>
                <a:spcPct val="90000"/>
              </a:lnSpc>
              <a:spcBef>
                <a:spcPct val="0"/>
              </a:spcBef>
              <a:spcAft>
                <a:spcPts val="600"/>
              </a:spcAft>
            </a:pPr>
            <a:r>
              <a:rPr lang="en-US" sz="3200" b="1" dirty="0">
                <a:effectLst/>
                <a:latin typeface="+mj-lt"/>
                <a:ea typeface="+mj-ea"/>
                <a:cs typeface="+mj-cs"/>
              </a:rPr>
              <a:t>Pareto Chart – Defect Count by Type (Model 595242-854)</a:t>
            </a:r>
          </a:p>
        </p:txBody>
      </p:sp>
      <p:sp>
        <p:nvSpPr>
          <p:cNvPr id="2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19BE10A-1928-1D3D-C199-518DE0CCB92B}"/>
              </a:ext>
            </a:extLst>
          </p:cNvPr>
          <p:cNvSpPr txBox="1"/>
          <p:nvPr/>
        </p:nvSpPr>
        <p:spPr>
          <a:xfrm>
            <a:off x="465196" y="2760473"/>
            <a:ext cx="4093687" cy="3320668"/>
          </a:xfrm>
          <a:prstGeom prst="rect">
            <a:avLst/>
          </a:prstGeom>
        </p:spPr>
        <p:txBody>
          <a:bodyPr vert="horz" lIns="91440" tIns="45720" rIns="91440" bIns="45720" rtlCol="0" anchor="t">
            <a:noAutofit/>
          </a:bodyPr>
          <a:lstStyle/>
          <a:p>
            <a:pPr marL="285750" indent="-285750">
              <a:lnSpc>
                <a:spcPct val="90000"/>
              </a:lnSpc>
              <a:spcAft>
                <a:spcPts val="600"/>
              </a:spcAft>
              <a:buFont typeface="Arial"/>
              <a:buChar char="•"/>
            </a:pPr>
            <a:r>
              <a:rPr lang="en-US" sz="2000" dirty="0">
                <a:effectLst/>
              </a:rPr>
              <a:t> Model </a:t>
            </a:r>
            <a:r>
              <a:rPr lang="en-US" sz="2000" dirty="0"/>
              <a:t>595214-854 has three</a:t>
            </a:r>
            <a:r>
              <a:rPr lang="en-US" sz="2000" dirty="0">
                <a:effectLst/>
              </a:rPr>
              <a:t> common defects in its production are solder bridges, tilted components, and pin damage.</a:t>
            </a:r>
            <a:r>
              <a:rPr lang="en-US" sz="2000" dirty="0"/>
              <a:t> </a:t>
            </a:r>
            <a:r>
              <a:rPr lang="en-US" sz="2000" dirty="0">
                <a:effectLst/>
              </a:rPr>
              <a:t> </a:t>
            </a:r>
            <a:endParaRPr lang="en-US" sz="2000" dirty="0"/>
          </a:p>
          <a:p>
            <a:pPr indent="-228600">
              <a:lnSpc>
                <a:spcPct val="90000"/>
              </a:lnSpc>
              <a:spcAft>
                <a:spcPts val="600"/>
              </a:spcAft>
              <a:buFont typeface="Arial" panose="020B0604020202020204" pitchFamily="34" charset="0"/>
              <a:buChar char="•"/>
            </a:pPr>
            <a:endParaRPr lang="en-US" sz="2000" dirty="0">
              <a:effectLst/>
            </a:endParaRPr>
          </a:p>
          <a:p>
            <a:pPr marL="285750" indent="-285750">
              <a:lnSpc>
                <a:spcPct val="90000"/>
              </a:lnSpc>
              <a:spcAft>
                <a:spcPts val="600"/>
              </a:spcAft>
              <a:buFont typeface="Arial"/>
              <a:buChar char="•"/>
            </a:pPr>
            <a:r>
              <a:rPr lang="en-US" sz="2000" dirty="0">
                <a:effectLst/>
              </a:rPr>
              <a:t>The Pareto curve shows that </a:t>
            </a:r>
            <a:r>
              <a:rPr lang="en-US" sz="2000" dirty="0"/>
              <a:t>these defects</a:t>
            </a:r>
            <a:r>
              <a:rPr lang="en-US" sz="2000" dirty="0">
                <a:effectLst/>
              </a:rPr>
              <a:t> cause nearly 80% of all problems.</a:t>
            </a:r>
          </a:p>
          <a:p>
            <a:pPr indent="-228600">
              <a:lnSpc>
                <a:spcPct val="90000"/>
              </a:lnSpc>
              <a:spcAft>
                <a:spcPts val="600"/>
              </a:spcAft>
              <a:buFont typeface="Arial" panose="020B0604020202020204" pitchFamily="34" charset="0"/>
              <a:buChar char="•"/>
            </a:pPr>
            <a:endParaRPr lang="en-US" sz="2000" dirty="0">
              <a:effectLst/>
            </a:endParaRPr>
          </a:p>
          <a:p>
            <a:pPr marL="285750" indent="-285750">
              <a:lnSpc>
                <a:spcPct val="90000"/>
              </a:lnSpc>
              <a:spcAft>
                <a:spcPts val="600"/>
              </a:spcAft>
              <a:buFont typeface="Arial"/>
              <a:buChar char="•"/>
            </a:pPr>
            <a:r>
              <a:rPr lang="en-US" sz="2000" dirty="0">
                <a:effectLst/>
              </a:rPr>
              <a:t>By fixing these issues, production quality will be improved.</a:t>
            </a:r>
          </a:p>
        </p:txBody>
      </p:sp>
      <p:pic>
        <p:nvPicPr>
          <p:cNvPr id="2" name="Picture 1">
            <a:extLst>
              <a:ext uri="{FF2B5EF4-FFF2-40B4-BE49-F238E27FC236}">
                <a16:creationId xmlns:a16="http://schemas.microsoft.com/office/drawing/2014/main" id="{4C7354D4-6928-343D-451A-5ACA731C8219}"/>
              </a:ext>
            </a:extLst>
          </p:cNvPr>
          <p:cNvPicPr>
            <a:picLocks noChangeAspect="1"/>
          </p:cNvPicPr>
          <p:nvPr/>
        </p:nvPicPr>
        <p:blipFill>
          <a:blip r:embed="rId3"/>
          <a:srcRect r="7066" b="-182"/>
          <a:stretch>
            <a:fillRect/>
          </a:stretch>
        </p:blipFill>
        <p:spPr>
          <a:xfrm>
            <a:off x="4787045" y="324797"/>
            <a:ext cx="7407452" cy="62084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819595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Magnifying glass showing decling performance">
            <a:extLst>
              <a:ext uri="{FF2B5EF4-FFF2-40B4-BE49-F238E27FC236}">
                <a16:creationId xmlns:a16="http://schemas.microsoft.com/office/drawing/2014/main" id="{F382464B-070D-A6C9-DC12-FC401C2F4A99}"/>
              </a:ext>
            </a:extLst>
          </p:cNvPr>
          <p:cNvPicPr>
            <a:picLocks noChangeAspect="1"/>
          </p:cNvPicPr>
          <p:nvPr/>
        </p:nvPicPr>
        <p:blipFill>
          <a:blip r:embed="rId3"/>
          <a:srcRect l="16057" r="12117" b="-3"/>
          <a:stretch>
            <a:fillRect/>
          </a:stretch>
        </p:blipFill>
        <p:spPr>
          <a:xfrm>
            <a:off x="20" y="10"/>
            <a:ext cx="7390243" cy="6857990"/>
          </a:xfrm>
          <a:prstGeom prst="rect">
            <a:avLst/>
          </a:prstGeom>
        </p:spPr>
      </p:pic>
      <p:sp>
        <p:nvSpPr>
          <p:cNvPr id="8" name="Rectangle 7">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extBox 1">
            <a:extLst>
              <a:ext uri="{FF2B5EF4-FFF2-40B4-BE49-F238E27FC236}">
                <a16:creationId xmlns:a16="http://schemas.microsoft.com/office/drawing/2014/main" id="{D190E280-B245-7806-6CE4-5719AC30B45C}"/>
              </a:ext>
            </a:extLst>
          </p:cNvPr>
          <p:cNvSpPr txBox="1"/>
          <p:nvPr/>
        </p:nvSpPr>
        <p:spPr>
          <a:xfrm>
            <a:off x="7503594" y="140015"/>
            <a:ext cx="4570847" cy="561660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600"/>
              </a:spcAft>
            </a:pPr>
            <a:r>
              <a:rPr lang="en-US" sz="3200" b="1" dirty="0"/>
              <a:t>Key Findings:</a:t>
            </a:r>
            <a:endParaRPr lang="en-US" sz="3200"/>
          </a:p>
          <a:p>
            <a:pPr marL="228600" indent="-228600">
              <a:lnSpc>
                <a:spcPct val="90000"/>
              </a:lnSpc>
              <a:spcAft>
                <a:spcPts val="600"/>
              </a:spcAft>
              <a:buFont typeface="Arial" panose="020B0604020202020204" pitchFamily="34" charset="0"/>
              <a:buChar char="•"/>
            </a:pPr>
            <a:r>
              <a:rPr lang="en-US" sz="2000" dirty="0"/>
              <a:t>~80% of total defects come from 3 production models .</a:t>
            </a:r>
          </a:p>
          <a:p>
            <a:pPr marL="228600" indent="-228600">
              <a:lnSpc>
                <a:spcPct val="90000"/>
              </a:lnSpc>
              <a:spcAft>
                <a:spcPts val="600"/>
              </a:spcAft>
              <a:buFont typeface="Arial" panose="020B0604020202020204" pitchFamily="34" charset="0"/>
              <a:buChar char="•"/>
            </a:pPr>
            <a:r>
              <a:rPr lang="en-US" sz="2000" dirty="0"/>
              <a:t>Defects are consistent across shifts → systemic process variation.</a:t>
            </a:r>
          </a:p>
          <a:p>
            <a:pPr marL="228600" indent="-228600">
              <a:lnSpc>
                <a:spcPct val="90000"/>
              </a:lnSpc>
              <a:spcAft>
                <a:spcPts val="600"/>
              </a:spcAft>
              <a:buFont typeface="Arial" panose="020B0604020202020204" pitchFamily="34" charset="0"/>
              <a:buChar char="•"/>
            </a:pPr>
            <a:r>
              <a:rPr lang="en-US" sz="2000" dirty="0"/>
              <a:t>No model-specific variance (confirmed by ANOVA).</a:t>
            </a:r>
          </a:p>
          <a:p>
            <a:pPr marL="228600" indent="-228600">
              <a:lnSpc>
                <a:spcPct val="90000"/>
              </a:lnSpc>
              <a:spcAft>
                <a:spcPts val="600"/>
              </a:spcAft>
              <a:buFont typeface="Arial" panose="020B0604020202020204" pitchFamily="34" charset="0"/>
              <a:buChar char="•"/>
            </a:pPr>
            <a:r>
              <a:rPr lang="en-US" sz="2000" dirty="0"/>
              <a:t>Weekly defect counts show gradual improvement over time.</a:t>
            </a:r>
          </a:p>
          <a:p>
            <a:pPr marL="228600"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800" b="1" dirty="0"/>
              <a:t>Next Steps:</a:t>
            </a:r>
          </a:p>
          <a:p>
            <a:pPr marL="228600" indent="-228600">
              <a:lnSpc>
                <a:spcPct val="90000"/>
              </a:lnSpc>
              <a:spcAft>
                <a:spcPts val="600"/>
              </a:spcAft>
              <a:buFont typeface="Arial" panose="020B0604020202020204" pitchFamily="34" charset="0"/>
              <a:buChar char="•"/>
            </a:pPr>
            <a:r>
              <a:rPr lang="en-US" sz="2000" dirty="0"/>
              <a:t>Standardize assembly and inspection processes across shifts.</a:t>
            </a:r>
          </a:p>
          <a:p>
            <a:pPr marL="228600" indent="-228600">
              <a:lnSpc>
                <a:spcPct val="90000"/>
              </a:lnSpc>
              <a:spcAft>
                <a:spcPts val="600"/>
              </a:spcAft>
              <a:buFont typeface="Arial" panose="020B0604020202020204" pitchFamily="34" charset="0"/>
              <a:buChar char="•"/>
            </a:pPr>
            <a:r>
              <a:rPr lang="en-US" sz="2000" dirty="0"/>
              <a:t>Implement tracking for top 3 defect types.</a:t>
            </a:r>
          </a:p>
          <a:p>
            <a:pPr marL="228600" indent="-228600">
              <a:lnSpc>
                <a:spcPct val="90000"/>
              </a:lnSpc>
              <a:spcAft>
                <a:spcPts val="600"/>
              </a:spcAft>
              <a:buFont typeface="Arial" panose="020B0604020202020204" pitchFamily="34" charset="0"/>
              <a:buChar char="•"/>
            </a:pPr>
            <a:r>
              <a:rPr lang="en-US" sz="2000" dirty="0"/>
              <a:t>Reinforce training and an equipment calibration schedule.</a:t>
            </a:r>
          </a:p>
          <a:p>
            <a:pPr marL="228600" indent="-228600">
              <a:lnSpc>
                <a:spcPct val="90000"/>
              </a:lnSpc>
              <a:spcAft>
                <a:spcPts val="600"/>
              </a:spcAft>
              <a:buFont typeface="Arial" panose="020B0604020202020204" pitchFamily="34" charset="0"/>
              <a:buChar char="•"/>
            </a:pPr>
            <a:r>
              <a:rPr lang="en-US" sz="2000" dirty="0"/>
              <a:t>Use Power BI dashboard to monitor defect trends monthly.</a:t>
            </a:r>
          </a:p>
        </p:txBody>
      </p:sp>
    </p:spTree>
    <p:extLst>
      <p:ext uri="{BB962C8B-B14F-4D97-AF65-F5344CB8AC3E}">
        <p14:creationId xmlns:p14="http://schemas.microsoft.com/office/powerpoint/2010/main" val="40300245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a92b963-a5f9-43cb-8a19-91f158325a2f}" enabled="1" method="Standard" siteId="{bcfa3e87-841e-48c7-983b-584159dd1a69}"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169</TotalTime>
  <Words>1721</Words>
  <Application>Microsoft Macintosh PowerPoint</Application>
  <PresentationFormat>Widescreen</PresentationFormat>
  <Paragraphs>131</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.AppleSystemUIFont</vt:lpstr>
      <vt:lpstr>Aptos</vt:lpstr>
      <vt:lpstr>Aptos Display</vt:lpstr>
      <vt:lpstr>Arial</vt:lpstr>
      <vt:lpstr>Calibri</vt:lpstr>
      <vt:lpstr>office theme</vt:lpstr>
      <vt:lpstr>Manufacturing Defect Reduction Initiative</vt:lpstr>
      <vt:lpstr>Defining the Manufacturing Challenge</vt:lpstr>
      <vt:lpstr>Data Preparation &amp; Methodology</vt:lpstr>
      <vt:lpstr>Root Cause Analysis (Fishbone Diagram)</vt:lpstr>
      <vt:lpstr>ANOVA Results and Interpretation</vt:lpstr>
      <vt:lpstr>Power BI Dashboard Overview</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Defect Reduction Initiative</dc:title>
  <dc:creator/>
  <cp:lastModifiedBy>Flowers, Curtis</cp:lastModifiedBy>
  <cp:revision>374</cp:revision>
  <dcterms:created xsi:type="dcterms:W3CDTF">2025-10-15T10:30:48Z</dcterms:created>
  <dcterms:modified xsi:type="dcterms:W3CDTF">2025-11-04T11:58:41Z</dcterms:modified>
</cp:coreProperties>
</file>