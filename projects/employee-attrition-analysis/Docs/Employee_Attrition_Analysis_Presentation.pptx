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rgbClr val="4D8AD5"/>
            </a:gs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3CE903C7-4699-5B27-1BCF-F20EBAFF5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61" r="17425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 dirty="0"/>
              <a:t>Employee Attrition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/>
              <a:t>Business Question: </a:t>
            </a:r>
            <a:r>
              <a:rPr lang="en-US" sz="1400" dirty="0"/>
              <a:t>“</a:t>
            </a:r>
            <a:r>
              <a:rPr lang="en-US" sz="1400" i="1" dirty="0"/>
              <a:t>Which organizational and employee factors are most significantly correlated with employee attrition, and how can we effectively predict and mitigate future turnover?”</a:t>
            </a:r>
            <a:endParaRPr lang="en-US" sz="1400" i="1"/>
          </a:p>
          <a:p>
            <a:pPr marL="0" indent="0">
              <a:lnSpc>
                <a:spcPct val="90000"/>
              </a:lnSpc>
              <a:buNone/>
            </a:pPr>
            <a:endParaRPr lang="en-US" sz="1400"/>
          </a:p>
          <a:p>
            <a:pPr>
              <a:lnSpc>
                <a:spcPct val="90000"/>
              </a:lnSpc>
            </a:pPr>
            <a:r>
              <a:rPr lang="en-US" sz="1400" dirty="0"/>
              <a:t>Dataset: ~6,000 employees, 36 features (demographics, compensation, satisfaction, tenure, overtime)</a:t>
            </a:r>
            <a:endParaRPr lang="en-US" sz="1400"/>
          </a:p>
          <a:p>
            <a:pPr marL="0" indent="0">
              <a:lnSpc>
                <a:spcPct val="90000"/>
              </a:lnSpc>
              <a:buNone/>
            </a:pPr>
            <a:endParaRPr lang="en-US" sz="1400"/>
          </a:p>
          <a:p>
            <a:pPr>
              <a:lnSpc>
                <a:spcPct val="90000"/>
              </a:lnSpc>
            </a:pPr>
            <a:r>
              <a:rPr lang="en-US" sz="1400" dirty="0"/>
              <a:t>Models Compared: Logistic Regression vs. Random Forest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2FF9-C3EE-80B1-1B19-18B093449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 Turnover Crisis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306202-8C1B-1DA5-0CE0-34BDCE7BD0F5}"/>
              </a:ext>
            </a:extLst>
          </p:cNvPr>
          <p:cNvSpPr/>
          <p:nvPr/>
        </p:nvSpPr>
        <p:spPr>
          <a:xfrm>
            <a:off x="814551" y="1228452"/>
            <a:ext cx="7514897" cy="9682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n-US" sz="24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sz="2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29.62% Annual Turnover Rate</a:t>
            </a:r>
          </a:p>
          <a:p>
            <a:pPr algn="ctr"/>
            <a:r>
              <a:rPr lang="en-US" sz="1600" dirty="0"/>
              <a:t>1,789 employees lost • $2.4M+ replacement costs • 3 out of 10 employees leaving</a:t>
            </a:r>
          </a:p>
          <a:p>
            <a:br>
              <a:rPr lang="en-US" dirty="0"/>
            </a:br>
            <a:endParaRPr lang="en-US" dirty="0"/>
          </a:p>
          <a:p>
            <a:pPr algn="ctr"/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87809-964D-17C5-5801-EA4B381F3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65" y="2371452"/>
            <a:ext cx="8208668" cy="147942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60C882-81C9-81F9-2164-76D2E8D0C9DC}"/>
              </a:ext>
            </a:extLst>
          </p:cNvPr>
          <p:cNvSpPr/>
          <p:nvPr/>
        </p:nvSpPr>
        <p:spPr>
          <a:xfrm>
            <a:off x="814553" y="4466897"/>
            <a:ext cx="3515711" cy="201798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Counter-Intuitive Discovery</a:t>
            </a:r>
          </a:p>
          <a:p>
            <a:r>
              <a:rPr lang="en-US" sz="1600" dirty="0"/>
              <a:t>Employees who left earned $1,337 MORE monthly than those who stayed. Retention isn't about money alone.</a:t>
            </a:r>
          </a:p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728109-F0A3-AA81-4527-87531B6620B5}"/>
              </a:ext>
            </a:extLst>
          </p:cNvPr>
          <p:cNvSpPr/>
          <p:nvPr/>
        </p:nvSpPr>
        <p:spPr>
          <a:xfrm>
            <a:off x="4813736" y="4466897"/>
            <a:ext cx="3515711" cy="201798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Performance Rating Dominates</a:t>
            </a:r>
          </a:p>
          <a:p>
            <a:r>
              <a:rPr lang="en-US" sz="1600" dirty="0"/>
              <a:t>Single strongest predictor (0.386 correlation). Performance management is our highest-impact intervention point.</a:t>
            </a:r>
          </a:p>
        </p:txBody>
      </p:sp>
    </p:spTree>
    <p:extLst>
      <p:ext uri="{BB962C8B-B14F-4D97-AF65-F5344CB8AC3E}">
        <p14:creationId xmlns:p14="http://schemas.microsoft.com/office/powerpoint/2010/main" val="258479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8D78-3208-1895-06CD-82B83B815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77462"/>
            <a:ext cx="8229600" cy="440176"/>
          </a:xfrm>
        </p:spPr>
        <p:txBody>
          <a:bodyPr>
            <a:noAutofit/>
          </a:bodyPr>
          <a:lstStyle/>
          <a:p>
            <a:r>
              <a:rPr lang="en-US" sz="3200" b="1" dirty="0"/>
              <a:t>Root Cause Analysis</a:t>
            </a:r>
            <a:br>
              <a:rPr lang="en-US" sz="3200" b="1" dirty="0"/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4E7FF-E8A5-ECA4-B6DB-7BEA5D0B5D6C}"/>
              </a:ext>
            </a:extLst>
          </p:cNvPr>
          <p:cNvSpPr txBox="1"/>
          <p:nvPr/>
        </p:nvSpPr>
        <p:spPr>
          <a:xfrm>
            <a:off x="2286000" y="2792991"/>
            <a:ext cx="45720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Root Cause Analysis: Why Our Best People Leave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1A8C5A-9267-A25F-33CB-4F0FD8DA4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97550"/>
            <a:ext cx="7772400" cy="31560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57A9B3-66D1-1E5C-2BA4-940EF87075FC}"/>
              </a:ext>
            </a:extLst>
          </p:cNvPr>
          <p:cNvSpPr txBox="1"/>
          <p:nvPr/>
        </p:nvSpPr>
        <p:spPr>
          <a:xfrm>
            <a:off x="0" y="4353566"/>
            <a:ext cx="9038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Geographic Factor: 5.9 miles farther</a:t>
            </a:r>
            <a:r>
              <a:rPr lang="en-US" sz="1600" dirty="0"/>
              <a:t> average commute for employees who left. Work-life balance matters more than compensation.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Relationship Quality:</a:t>
            </a:r>
            <a:r>
              <a:rPr lang="en-US" sz="1600" dirty="0"/>
              <a:t> Management training is essential.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Career Stagnation: 1.7 years longer</a:t>
            </a:r>
            <a:r>
              <a:rPr lang="en-US" sz="1600" dirty="0"/>
              <a:t> since last promotion for departing employees. Career progression is critical.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Critical Roles at Risk: 307 Sales Executives</a:t>
            </a:r>
            <a:r>
              <a:rPr lang="en-US" sz="1600" dirty="0"/>
              <a:t> and </a:t>
            </a:r>
            <a:r>
              <a:rPr lang="en-US" sz="1600" b="1" dirty="0"/>
              <a:t>293 Lab Technicians</a:t>
            </a:r>
            <a:r>
              <a:rPr lang="en-US" sz="1600" dirty="0"/>
              <a:t> lost. </a:t>
            </a:r>
          </a:p>
        </p:txBody>
      </p:sp>
    </p:spTree>
    <p:extLst>
      <p:ext uri="{BB962C8B-B14F-4D97-AF65-F5344CB8AC3E}">
        <p14:creationId xmlns:p14="http://schemas.microsoft.com/office/powerpoint/2010/main" val="1468467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r>
              <a:rPr lang="en-US" sz="3100" b="1" dirty="0"/>
              <a:t>Predictive Analytics: Two-Model Approach</a:t>
            </a:r>
            <a:br>
              <a:rPr lang="en-US" b="1" dirty="0"/>
            </a:br>
            <a:br>
              <a:rPr lang="en-US" dirty="0"/>
            </a:b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EDB8A6-D4E2-3AB1-09C0-15BD2681D669}"/>
              </a:ext>
            </a:extLst>
          </p:cNvPr>
          <p:cNvSpPr/>
          <p:nvPr/>
        </p:nvSpPr>
        <p:spPr>
          <a:xfrm>
            <a:off x="378372" y="1417638"/>
            <a:ext cx="3647090" cy="239635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/>
              <a:t>Early Warning System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98.05% </a:t>
            </a:r>
            <a:r>
              <a:rPr lang="en-US" sz="1400" dirty="0">
                <a:solidFill>
                  <a:schemeClr val="tx1"/>
                </a:solidFill>
              </a:rPr>
              <a:t>Recall Rate</a:t>
            </a:r>
          </a:p>
          <a:p>
            <a:r>
              <a:rPr lang="en-US" b="1" dirty="0"/>
              <a:t>Logistic Regression Model</a:t>
            </a: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• Identifies 98 out of 100 potential leavers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Monthly screening capability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Proactive intervention trigger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Use for: Comprehensive at-risk identification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FDBA78-C33F-1565-912E-CA95E6D52545}"/>
              </a:ext>
            </a:extLst>
          </p:cNvPr>
          <p:cNvSpPr/>
          <p:nvPr/>
        </p:nvSpPr>
        <p:spPr>
          <a:xfrm>
            <a:off x="5039710" y="1417637"/>
            <a:ext cx="3647090" cy="239635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 </a:t>
            </a:r>
            <a:r>
              <a:rPr lang="en-US" sz="1600" b="1" dirty="0"/>
              <a:t>Strategic Planning Tool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68.87% </a:t>
            </a:r>
            <a:r>
              <a:rPr lang="en-US" sz="1400" dirty="0">
                <a:solidFill>
                  <a:schemeClr val="tx1"/>
                </a:solidFill>
              </a:rPr>
              <a:t>Overall Accuracy</a:t>
            </a:r>
          </a:p>
          <a:p>
            <a:r>
              <a:rPr lang="en-US" b="1" dirty="0"/>
              <a:t>Random Forest Model</a:t>
            </a:r>
            <a:br>
              <a:rPr lang="en-US" sz="1400" dirty="0"/>
            </a:br>
            <a:r>
              <a:rPr lang="en-US" sz="1400" dirty="0">
                <a:solidFill>
                  <a:schemeClr val="tx1"/>
                </a:solidFill>
              </a:rPr>
              <a:t>• Reliable predictions for resource allocation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Conservative, high-confidence targeting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Investment-grade accuracy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• Use for: Retention bonus decisions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D3DAF2-1D97-CDF1-DE24-2E8C52F8D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6" y="3997064"/>
            <a:ext cx="7772400" cy="28399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67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Action Plan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EA375-3D40-8181-2C5A-FE7D5E7A8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51338"/>
            <a:ext cx="7772400" cy="2920017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F4D793D-CBA2-D97D-36D3-EF224B3F9099}"/>
              </a:ext>
            </a:extLst>
          </p:cNvPr>
          <p:cNvSpPr/>
          <p:nvPr/>
        </p:nvSpPr>
        <p:spPr>
          <a:xfrm>
            <a:off x="685800" y="4288221"/>
            <a:ext cx="3802117" cy="20074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Immediate Actions (0-3 months)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Emergency HR retention program (38.5% crisis)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Performance management overhaul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Geographic flexibility for 20+ mile commuters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Deploy early warning system (98% accuracy)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6215D7-E68E-BBEB-1811-09D4076993DB}"/>
              </a:ext>
            </a:extLst>
          </p:cNvPr>
          <p:cNvSpPr/>
          <p:nvPr/>
        </p:nvSpPr>
        <p:spPr>
          <a:xfrm>
            <a:off x="4884683" y="4288221"/>
            <a:ext cx="3802117" cy="200747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Strategic Initiatives (3-12 months)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Accelerate promotions: 6.1 → 4.4 year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Management relationship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Department-specific retention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Predictive analytics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340</Words>
  <Application>Microsoft Office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Employee Attrition Analysis</vt:lpstr>
      <vt:lpstr>HR Turnover Crisis</vt:lpstr>
      <vt:lpstr>Root Cause Analysis  </vt:lpstr>
      <vt:lpstr>   Predictive Analytics: Two-Model Approach  </vt:lpstr>
      <vt:lpstr>Action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Flowers, Curtis</cp:lastModifiedBy>
  <cp:revision>3</cp:revision>
  <dcterms:created xsi:type="dcterms:W3CDTF">2013-01-27T09:14:16Z</dcterms:created>
  <dcterms:modified xsi:type="dcterms:W3CDTF">2025-11-04T12:38:18Z</dcterms:modified>
  <cp:category/>
</cp:coreProperties>
</file>